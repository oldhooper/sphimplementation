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1" r:id="rId9"/>
    <p:sldId id="265" r:id="rId10"/>
    <p:sldId id="268" r:id="rId11"/>
    <p:sldId id="266" r:id="rId12"/>
    <p:sldId id="267" r:id="rId13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49" autoAdjust="0"/>
    <p:restoredTop sz="94660"/>
  </p:normalViewPr>
  <p:slideViewPr>
    <p:cSldViewPr>
      <p:cViewPr>
        <p:scale>
          <a:sx n="33" d="100"/>
          <a:sy n="33" d="100"/>
        </p:scale>
        <p:origin x="-2280" y="-1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91481-BEFD-436D-95A4-3AB284A7381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461000" y="731838"/>
            <a:ext cx="6553200" cy="3657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747838" y="4632325"/>
            <a:ext cx="13979525" cy="43894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D4D3E-2366-4D82-8CA6-1E8EBF1DBD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493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CD4D3E-2366-4D82-8CA6-1E8EBF1DBD3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936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0640" y="2709334"/>
            <a:ext cx="14417040" cy="3689209"/>
          </a:xfrm>
        </p:spPr>
        <p:txBody>
          <a:bodyPr anchor="b"/>
          <a:lstStyle>
            <a:lvl1pPr>
              <a:defRPr sz="112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0640" y="6502400"/>
            <a:ext cx="12349141" cy="1517227"/>
          </a:xfrm>
        </p:spPr>
        <p:txBody>
          <a:bodyPr anchor="t">
            <a:normAutofit/>
          </a:bodyPr>
          <a:lstStyle>
            <a:lvl1pPr marL="0" indent="0" algn="l">
              <a:buNone/>
              <a:defRPr sz="3400">
                <a:solidFill>
                  <a:schemeClr val="tx1">
                    <a:tint val="75000"/>
                  </a:schemeClr>
                </a:solidFill>
              </a:defRPr>
            </a:lvl1pPr>
            <a:lvl2pPr marL="777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558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33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117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889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67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45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23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CAB20-09A3-46C8-8659-CB4BE7E86486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D4C0-1886-4610-87A7-E07F906F5458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0421" y="7802880"/>
            <a:ext cx="14638513" cy="1661724"/>
          </a:xfrm>
        </p:spPr>
        <p:txBody>
          <a:bodyPr anchor="t"/>
          <a:lstStyle>
            <a:lvl1pPr algn="l">
              <a:defRPr sz="61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0421" y="5479627"/>
            <a:ext cx="11725980" cy="2323254"/>
          </a:xfrm>
        </p:spPr>
        <p:txBody>
          <a:bodyPr anchor="b"/>
          <a:lstStyle>
            <a:lvl1pPr marL="0" indent="0">
              <a:buNone/>
              <a:defRPr sz="3400">
                <a:solidFill>
                  <a:schemeClr val="tx1">
                    <a:tint val="75000"/>
                  </a:schemeClr>
                </a:solidFill>
              </a:defRPr>
            </a:lvl1pPr>
            <a:lvl2pPr marL="777926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55852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3377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1170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88962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67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4548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23406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F66B1-D0C3-45E4-9E61-7550EA8AE8EB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3760" y="2184806"/>
            <a:ext cx="6990080" cy="6528410"/>
          </a:xfrm>
        </p:spPr>
        <p:txBody>
          <a:bodyPr/>
          <a:lstStyle>
            <a:lvl1pPr>
              <a:defRPr sz="4800"/>
            </a:lvl1pPr>
            <a:lvl2pPr>
              <a:defRPr sz="4100"/>
            </a:lvl2pPr>
            <a:lvl3pPr>
              <a:defRPr sz="34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46347" y="2184806"/>
            <a:ext cx="6990080" cy="6528410"/>
          </a:xfrm>
        </p:spPr>
        <p:txBody>
          <a:bodyPr/>
          <a:lstStyle>
            <a:lvl1pPr>
              <a:defRPr sz="4800"/>
            </a:lvl1pPr>
            <a:lvl2pPr>
              <a:defRPr sz="4100"/>
            </a:lvl2pPr>
            <a:lvl3pPr>
              <a:defRPr sz="34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1B71-D202-43B8-9D42-73EB383497B8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760" y="2183272"/>
            <a:ext cx="6990080" cy="909884"/>
          </a:xfrm>
        </p:spPr>
        <p:txBody>
          <a:bodyPr anchor="b">
            <a:noAutofit/>
          </a:bodyPr>
          <a:lstStyle>
            <a:lvl1pPr marL="0" indent="0" algn="ctr">
              <a:buNone/>
              <a:defRPr sz="3400" b="1">
                <a:solidFill>
                  <a:schemeClr val="tx2"/>
                </a:solidFill>
              </a:defRPr>
            </a:lvl1pPr>
            <a:lvl2pPr marL="777926" indent="0">
              <a:buNone/>
              <a:defRPr sz="3400" b="1"/>
            </a:lvl2pPr>
            <a:lvl3pPr marL="1555852" indent="0">
              <a:buNone/>
              <a:defRPr sz="3100" b="1"/>
            </a:lvl3pPr>
            <a:lvl4pPr marL="2333777" indent="0">
              <a:buNone/>
              <a:defRPr sz="2700" b="1"/>
            </a:lvl4pPr>
            <a:lvl5pPr marL="3111703" indent="0">
              <a:buNone/>
              <a:defRPr sz="2700" b="1"/>
            </a:lvl5pPr>
            <a:lvl6pPr marL="3889629" indent="0">
              <a:buNone/>
              <a:defRPr sz="2700" b="1"/>
            </a:lvl6pPr>
            <a:lvl7pPr marL="4667555" indent="0">
              <a:buNone/>
              <a:defRPr sz="2700" b="1"/>
            </a:lvl7pPr>
            <a:lvl8pPr marL="5445481" indent="0">
              <a:buNone/>
              <a:defRPr sz="2700" b="1"/>
            </a:lvl8pPr>
            <a:lvl9pPr marL="6223406" indent="0">
              <a:buNone/>
              <a:defRPr sz="27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3760" y="3093155"/>
            <a:ext cx="6990080" cy="5619610"/>
          </a:xfrm>
        </p:spPr>
        <p:txBody>
          <a:bodyPr/>
          <a:lstStyle>
            <a:lvl1pPr>
              <a:defRPr sz="4100"/>
            </a:lvl1pPr>
            <a:lvl2pPr>
              <a:defRPr sz="3400"/>
            </a:lvl2pPr>
            <a:lvl3pPr>
              <a:defRPr sz="31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446347" y="2183272"/>
            <a:ext cx="6990080" cy="909884"/>
          </a:xfrm>
        </p:spPr>
        <p:txBody>
          <a:bodyPr anchor="b">
            <a:noAutofit/>
          </a:bodyPr>
          <a:lstStyle>
            <a:lvl1pPr marL="0" indent="0" algn="ctr">
              <a:buNone/>
              <a:defRPr sz="3400" b="1">
                <a:solidFill>
                  <a:schemeClr val="tx2"/>
                </a:solidFill>
              </a:defRPr>
            </a:lvl1pPr>
            <a:lvl2pPr marL="777926" indent="0">
              <a:buNone/>
              <a:defRPr sz="3400" b="1"/>
            </a:lvl2pPr>
            <a:lvl3pPr marL="1555852" indent="0">
              <a:buNone/>
              <a:defRPr sz="3100" b="1"/>
            </a:lvl3pPr>
            <a:lvl4pPr marL="2333777" indent="0">
              <a:buNone/>
              <a:defRPr sz="2700" b="1"/>
            </a:lvl4pPr>
            <a:lvl5pPr marL="3111703" indent="0">
              <a:buNone/>
              <a:defRPr sz="2700" b="1"/>
            </a:lvl5pPr>
            <a:lvl6pPr marL="3889629" indent="0">
              <a:buNone/>
              <a:defRPr sz="2700" b="1"/>
            </a:lvl6pPr>
            <a:lvl7pPr marL="4667555" indent="0">
              <a:buNone/>
              <a:defRPr sz="2700" b="1"/>
            </a:lvl7pPr>
            <a:lvl8pPr marL="5445481" indent="0">
              <a:buNone/>
              <a:defRPr sz="2700" b="1"/>
            </a:lvl8pPr>
            <a:lvl9pPr marL="6223406" indent="0">
              <a:buNone/>
              <a:defRPr sz="27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446347" y="3093155"/>
            <a:ext cx="6990080" cy="5619610"/>
          </a:xfrm>
        </p:spPr>
        <p:txBody>
          <a:bodyPr/>
          <a:lstStyle>
            <a:lvl1pPr>
              <a:defRPr sz="4100"/>
            </a:lvl1pPr>
            <a:lvl2pPr>
              <a:defRPr sz="3400"/>
            </a:lvl2pPr>
            <a:lvl3pPr>
              <a:defRPr sz="31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16E73-90C6-4065-BBEE-2AA97CF91C06}" type="datetime1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075E-2E4F-4AE9-9F78-E3B8DDD97FC5}" type="datetime1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2CBC-6C1D-4B18-BEB5-4F24738AB7AE}" type="datetime1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509" y="7815885"/>
            <a:ext cx="14853920" cy="845312"/>
          </a:xfrm>
        </p:spPr>
        <p:txBody>
          <a:bodyPr anchor="b"/>
          <a:lstStyle>
            <a:lvl1pPr algn="ctr">
              <a:defRPr sz="37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2506" y="8669867"/>
            <a:ext cx="14853922" cy="866987"/>
          </a:xfrm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777926" indent="0">
              <a:buNone/>
              <a:defRPr sz="2000"/>
            </a:lvl2pPr>
            <a:lvl3pPr marL="1555852" indent="0">
              <a:buNone/>
              <a:defRPr sz="1700"/>
            </a:lvl3pPr>
            <a:lvl4pPr marL="2333777" indent="0">
              <a:buNone/>
              <a:defRPr sz="1500"/>
            </a:lvl4pPr>
            <a:lvl5pPr marL="3111703" indent="0">
              <a:buNone/>
              <a:defRPr sz="1500"/>
            </a:lvl5pPr>
            <a:lvl6pPr marL="3889629" indent="0">
              <a:buNone/>
              <a:defRPr sz="1500"/>
            </a:lvl6pPr>
            <a:lvl7pPr marL="4667555" indent="0">
              <a:buNone/>
              <a:defRPr sz="1500"/>
            </a:lvl7pPr>
            <a:lvl8pPr marL="5445481" indent="0">
              <a:buNone/>
              <a:defRPr sz="1500"/>
            </a:lvl8pPr>
            <a:lvl9pPr marL="6223406" indent="0">
              <a:buNone/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6D3C7-477E-4965-9CF1-3B1C2ED0BDD8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82507" y="541867"/>
            <a:ext cx="14853920" cy="702981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682" y="7815507"/>
            <a:ext cx="14853920" cy="845690"/>
          </a:xfrm>
        </p:spPr>
        <p:txBody>
          <a:bodyPr anchor="b"/>
          <a:lstStyle>
            <a:lvl1pPr algn="ctr">
              <a:defRPr sz="37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6164560" cy="7802880"/>
          </a:xfrm>
        </p:spPr>
        <p:txBody>
          <a:bodyPr/>
          <a:lstStyle>
            <a:lvl1pPr marL="0" indent="0">
              <a:buNone/>
              <a:defRPr sz="5400"/>
            </a:lvl1pPr>
            <a:lvl2pPr marL="777926" indent="0">
              <a:buNone/>
              <a:defRPr sz="4800"/>
            </a:lvl2pPr>
            <a:lvl3pPr marL="1555852" indent="0">
              <a:buNone/>
              <a:defRPr sz="4100"/>
            </a:lvl3pPr>
            <a:lvl4pPr marL="2333777" indent="0">
              <a:buNone/>
              <a:defRPr sz="3400"/>
            </a:lvl4pPr>
            <a:lvl5pPr marL="3111703" indent="0">
              <a:buNone/>
              <a:defRPr sz="3400"/>
            </a:lvl5pPr>
            <a:lvl6pPr marL="3889629" indent="0">
              <a:buNone/>
              <a:defRPr sz="3400"/>
            </a:lvl6pPr>
            <a:lvl7pPr marL="4667555" indent="0">
              <a:buNone/>
              <a:defRPr sz="3400"/>
            </a:lvl7pPr>
            <a:lvl8pPr marL="5445481" indent="0">
              <a:buNone/>
              <a:defRPr sz="3400"/>
            </a:lvl8pPr>
            <a:lvl9pPr marL="6223406" indent="0">
              <a:buNone/>
              <a:defRPr sz="34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6682" y="8669866"/>
            <a:ext cx="14853920" cy="871322"/>
          </a:xfrm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777926" indent="0">
              <a:buNone/>
              <a:defRPr sz="2000"/>
            </a:lvl2pPr>
            <a:lvl3pPr marL="1555852" indent="0">
              <a:buNone/>
              <a:defRPr sz="1700"/>
            </a:lvl3pPr>
            <a:lvl4pPr marL="2333777" indent="0">
              <a:buNone/>
              <a:defRPr sz="1500"/>
            </a:lvl4pPr>
            <a:lvl5pPr marL="3111703" indent="0">
              <a:buNone/>
              <a:defRPr sz="1500"/>
            </a:lvl5pPr>
            <a:lvl6pPr marL="3889629" indent="0">
              <a:buNone/>
              <a:defRPr sz="1500"/>
            </a:lvl6pPr>
            <a:lvl7pPr marL="4667555" indent="0">
              <a:buNone/>
              <a:defRPr sz="1500"/>
            </a:lvl7pPr>
            <a:lvl8pPr marL="5445481" indent="0">
              <a:buNone/>
              <a:defRPr sz="1500"/>
            </a:lvl8pPr>
            <a:lvl9pPr marL="6223406" indent="0">
              <a:buNone/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19B5-A786-4648-9D11-18AE283BCD83}" type="datetime1">
              <a:rPr lang="en-US" smtClean="0"/>
              <a:t>12/24/2025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F0FB2-B11B-49D2-9217-4B588C332DC9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69520" y="390597"/>
            <a:ext cx="3349413" cy="8322169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3760" y="390597"/>
            <a:ext cx="11504507" cy="832216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E7CD-3D35-4076-840A-FB7AD63ABDF7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3760" y="390596"/>
            <a:ext cx="14562667" cy="1625600"/>
          </a:xfrm>
          <a:prstGeom prst="rect">
            <a:avLst/>
          </a:prstGeom>
        </p:spPr>
        <p:txBody>
          <a:bodyPr vert="horz" lIns="155585" tIns="77793" rIns="155585" bIns="77793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760" y="2275840"/>
            <a:ext cx="14562667" cy="6827520"/>
          </a:xfrm>
          <a:prstGeom prst="rect">
            <a:avLst/>
          </a:prstGeom>
        </p:spPr>
        <p:txBody>
          <a:bodyPr vert="horz" lIns="155585" tIns="77793" rIns="155585" bIns="77793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6164560" y="0"/>
            <a:ext cx="1310640" cy="9753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5585" tIns="77793" rIns="155585" bIns="77793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164560" y="7802880"/>
            <a:ext cx="1310640" cy="975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5585" tIns="77793" rIns="155585" bIns="77793"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305195" y="8034077"/>
            <a:ext cx="1048512" cy="563541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31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5078097" y="5668828"/>
            <a:ext cx="3366800" cy="699008"/>
          </a:xfrm>
          <a:prstGeom prst="rect">
            <a:avLst/>
          </a:prstGeom>
        </p:spPr>
        <p:txBody>
          <a:bodyPr vert="horz" lIns="155585" tIns="77793" rIns="155585" bIns="77793" rtlCol="0" anchor="ctr"/>
          <a:lstStyle>
            <a:lvl1pPr algn="r">
              <a:defRPr sz="2000"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5027525" y="2251456"/>
            <a:ext cx="3467945" cy="699008"/>
          </a:xfrm>
          <a:prstGeom prst="rect">
            <a:avLst/>
          </a:prstGeom>
        </p:spPr>
        <p:txBody>
          <a:bodyPr vert="horz" lIns="155585" tIns="77793" rIns="155585" bIns="77793" rtlCol="0" anchor="ctr"/>
          <a:lstStyle>
            <a:lvl1pPr algn="l">
              <a:defRPr sz="2000">
                <a:solidFill>
                  <a:schemeClr val="bg2"/>
                </a:solidFill>
              </a:defRPr>
            </a:lvl1pPr>
          </a:lstStyle>
          <a:p>
            <a:fld id="{807E97DE-AB08-4725-BF96-D4782CCD34B1}" type="datetime1">
              <a:rPr lang="en-US" smtClean="0"/>
              <a:t>12/24/2025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defTabSz="1555852" rtl="0" eaLnBrk="1" latinLnBrk="0" hangingPunct="1">
        <a:spcBef>
          <a:spcPct val="0"/>
        </a:spcBef>
        <a:buNone/>
        <a:defRPr sz="7800" kern="1200" cap="none" spc="-17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583444" indent="-388963" algn="l" defTabSz="1555852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1089096" indent="-388963" algn="l" defTabSz="1555852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711437" indent="-388963" algn="l" defTabSz="1555852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178192" indent="-388963" algn="l" defTabSz="1555852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644948" indent="-388963" algn="l" defTabSz="1555852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56118" indent="-311170" algn="l" defTabSz="1555852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267288" indent="-311170" algn="l" defTabSz="1555852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578459" indent="-311170" algn="l" defTabSz="1555852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9629" indent="-311170" algn="l" defTabSz="1555852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55852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77926" algn="l" defTabSz="1555852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55852" algn="l" defTabSz="1555852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33777" algn="l" defTabSz="1555852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11703" algn="l" defTabSz="1555852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889629" algn="l" defTabSz="1555852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67555" algn="l" defTabSz="1555852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45481" algn="l" defTabSz="1555852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23406" algn="l" defTabSz="1555852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77918" y="3048000"/>
            <a:ext cx="15079344" cy="2998257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12700" marR="5080" indent="1264920" algn="ctr">
              <a:lnSpc>
                <a:spcPts val="7300"/>
              </a:lnSpc>
              <a:spcBef>
                <a:spcPts val="1480"/>
              </a:spcBef>
              <a:tabLst>
                <a:tab pos="7874634" algn="l"/>
              </a:tabLst>
            </a:pPr>
            <a:r>
              <a:rPr sz="7200" spc="-265" dirty="0" err="1" smtClean="0">
                <a:solidFill>
                  <a:srgbClr val="2D2D2D"/>
                </a:solidFill>
              </a:rPr>
              <a:t>Моделирование</a:t>
            </a:r>
            <a:r>
              <a:rPr lang="ru-RU" sz="7200" dirty="0">
                <a:solidFill>
                  <a:srgbClr val="2D2D2D"/>
                </a:solidFill>
              </a:rPr>
              <a:t> </a:t>
            </a:r>
            <a:r>
              <a:rPr sz="7200" spc="-10" dirty="0" err="1" smtClean="0">
                <a:solidFill>
                  <a:srgbClr val="2D2D2D"/>
                </a:solidFill>
              </a:rPr>
              <a:t>физических</a:t>
            </a:r>
            <a:r>
              <a:rPr sz="7200" spc="-10" dirty="0" smtClean="0">
                <a:solidFill>
                  <a:srgbClr val="2D2D2D"/>
                </a:solidFill>
              </a:rPr>
              <a:t> </a:t>
            </a:r>
            <a:r>
              <a:rPr sz="7200" spc="-105" dirty="0" err="1" smtClean="0">
                <a:solidFill>
                  <a:srgbClr val="2F2F2F"/>
                </a:solidFill>
              </a:rPr>
              <a:t>процессов</a:t>
            </a:r>
            <a:r>
              <a:rPr lang="ru-RU" sz="7200" spc="-220" dirty="0">
                <a:solidFill>
                  <a:srgbClr val="2F2F2F"/>
                </a:solidFill>
              </a:rPr>
              <a:t> </a:t>
            </a:r>
            <a:r>
              <a:rPr sz="7200" spc="-10" dirty="0" err="1" smtClean="0">
                <a:solidFill>
                  <a:srgbClr val="2F2F2F"/>
                </a:solidFill>
              </a:rPr>
              <a:t>методом</a:t>
            </a:r>
            <a:r>
              <a:rPr lang="ru-RU" sz="7200" spc="-10" dirty="0">
                <a:solidFill>
                  <a:srgbClr val="2F2F2F"/>
                </a:solidFill>
              </a:rPr>
              <a:t> </a:t>
            </a:r>
            <a:r>
              <a:rPr lang="ru-RU" sz="7200" spc="-10" dirty="0" smtClean="0">
                <a:solidFill>
                  <a:srgbClr val="2F2F2F"/>
                </a:solidFill>
              </a:rPr>
              <a:t>гидродинамики сглаженных частиц (ГСЧ)</a:t>
            </a:r>
            <a:r>
              <a:rPr lang="en-US" sz="7200" spc="-10" dirty="0" smtClean="0">
                <a:solidFill>
                  <a:srgbClr val="2F2F2F"/>
                </a:solidFill>
              </a:rPr>
              <a:t> </a:t>
            </a:r>
            <a:endParaRPr sz="7200" dirty="0"/>
          </a:p>
        </p:txBody>
      </p:sp>
      <p:sp>
        <p:nvSpPr>
          <p:cNvPr id="7" name="object 7"/>
          <p:cNvSpPr txBox="1"/>
          <p:nvPr/>
        </p:nvSpPr>
        <p:spPr>
          <a:xfrm>
            <a:off x="1320488" y="9067800"/>
            <a:ext cx="14594205" cy="453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74320" algn="ctr">
              <a:lnSpc>
                <a:spcPct val="100000"/>
              </a:lnSpc>
            </a:pPr>
            <a:r>
              <a:rPr sz="2850" spc="-190" dirty="0" err="1" smtClean="0">
                <a:latin typeface="Calibri"/>
                <a:cs typeface="Calibri"/>
              </a:rPr>
              <a:t>Ни›кний</a:t>
            </a:r>
            <a:r>
              <a:rPr sz="2850" spc="30" dirty="0" smtClean="0">
                <a:latin typeface="Calibri"/>
                <a:cs typeface="Calibri"/>
              </a:rPr>
              <a:t> </a:t>
            </a:r>
            <a:r>
              <a:rPr sz="2850" spc="-114" dirty="0">
                <a:latin typeface="Calibri"/>
                <a:cs typeface="Calibri"/>
              </a:rPr>
              <a:t>Новгород,</a:t>
            </a:r>
            <a:r>
              <a:rPr sz="2850" spc="50" dirty="0">
                <a:latin typeface="Calibri"/>
                <a:cs typeface="Calibri"/>
              </a:rPr>
              <a:t> </a:t>
            </a:r>
            <a:r>
              <a:rPr sz="2850" spc="-35" dirty="0">
                <a:latin typeface="Calibri"/>
                <a:cs typeface="Calibri"/>
              </a:rPr>
              <a:t>2025</a:t>
            </a:r>
            <a:r>
              <a:rPr sz="2850" spc="-130" dirty="0">
                <a:latin typeface="Calibri"/>
                <a:cs typeface="Calibri"/>
              </a:rPr>
              <a:t> </a:t>
            </a:r>
            <a:r>
              <a:rPr sz="2850" spc="-25" dirty="0">
                <a:latin typeface="Calibri"/>
                <a:cs typeface="Calibri"/>
              </a:rPr>
              <a:t>г.</a:t>
            </a:r>
            <a:endParaRPr sz="2850" dirty="0">
              <a:latin typeface="Calibri"/>
              <a:cs typeface="Calibri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584570" y="6858000"/>
            <a:ext cx="1048512" cy="563541"/>
          </a:xfrm>
        </p:spPr>
        <p:txBody>
          <a:bodyPr/>
          <a:lstStyle/>
          <a:p>
            <a:fld id="{B6F15528-21DE-4FAA-801E-634DDDAF4B2B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12800" y="914400"/>
            <a:ext cx="9850755" cy="94000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ru-RU" sz="60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endParaRPr sz="5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3016" y="2093498"/>
            <a:ext cx="2360111" cy="684162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lang="ru-RU" sz="32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Цель работы</a:t>
            </a:r>
            <a:endParaRPr lang="ru-RU" sz="3200" spc="-29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:\Work\DIPLOMA\SPHlit\Рисунок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7600" y="609600"/>
            <a:ext cx="4419600" cy="821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073016" y="5709768"/>
            <a:ext cx="108204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теоретические основы гидродинамики и методов моделирования жидкостных и газообразных сред и провести обзор по теме «Моделирования физических процессов методом гидродинамики сглаженных частиц»;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компьютерную модель динамики жидкости на основе ГСЧ;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производительность реализации.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12800" y="5002567"/>
            <a:ext cx="33653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lang="ru-RU" sz="3200" spc="-6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Основные</a:t>
            </a:r>
            <a:r>
              <a:rPr lang="ru-RU" sz="3200" spc="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073016" y="2918579"/>
            <a:ext cx="998011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 жидкости методом гидродинамики сглаженных частиц (ГСЧ) для исследования поведения жидкостей разной плотности. Метод ГСЧ (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SPH) –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 безсеточный лагранжев метод с возможностью динамического задания границ.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6401288" y="9190059"/>
            <a:ext cx="1048512" cy="563541"/>
          </a:xfrm>
        </p:spPr>
        <p:txBody>
          <a:bodyPr/>
          <a:lstStyle/>
          <a:p>
            <a:fld id="{B6F15528-21DE-4FAA-801E-634DDDAF4B2B}" type="slidenum">
              <a:rPr lang="ru-RU" smtClean="0">
                <a:solidFill>
                  <a:schemeClr val="tx1"/>
                </a:solidFill>
              </a:rPr>
              <a:t>2</a:t>
            </a:fld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879600"/>
            <a:ext cx="3975100" cy="3225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8700" y="2082800"/>
            <a:ext cx="4236794" cy="3022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60200" y="1701800"/>
            <a:ext cx="4368800" cy="340360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20700" y="457200"/>
            <a:ext cx="14782800" cy="93807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ru-RU" sz="6000" spc="-170" dirty="0" smtClean="0">
                <a:solidFill>
                  <a:srgbClr val="2D2D2D"/>
                </a:solidFill>
                <a:latin typeface="Times New Roman"/>
                <a:cs typeface="Times New Roman"/>
              </a:rPr>
              <a:t>Обзор современных применений метода ГСЧ</a:t>
            </a:r>
            <a:endParaRPr sz="60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6100" y="5486400"/>
            <a:ext cx="5099685" cy="7239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 indent="13970">
              <a:lnSpc>
                <a:spcPts val="2500"/>
              </a:lnSpc>
              <a:spcBef>
                <a:spcPts val="600"/>
              </a:spcBef>
            </a:pPr>
            <a:r>
              <a:rPr sz="2500" spc="-125" dirty="0">
                <a:latin typeface="Cambria"/>
                <a:cs typeface="Cambria"/>
              </a:rPr>
              <a:t>1.</a:t>
            </a:r>
            <a:r>
              <a:rPr sz="2500" spc="-65" dirty="0">
                <a:latin typeface="Cambria"/>
                <a:cs typeface="Cambria"/>
              </a:rPr>
              <a:t> </a:t>
            </a:r>
            <a:r>
              <a:rPr sz="2500" spc="-140" dirty="0">
                <a:latin typeface="Cambria"/>
                <a:cs typeface="Cambria"/>
              </a:rPr>
              <a:t>Моделирование</a:t>
            </a:r>
            <a:r>
              <a:rPr sz="2500" spc="145" dirty="0">
                <a:latin typeface="Cambria"/>
                <a:cs typeface="Cambria"/>
              </a:rPr>
              <a:t> </a:t>
            </a:r>
            <a:r>
              <a:rPr sz="2500" spc="-150" dirty="0">
                <a:latin typeface="Cambria"/>
                <a:cs typeface="Cambria"/>
              </a:rPr>
              <a:t>взрывных</a:t>
            </a:r>
            <a:r>
              <a:rPr sz="2500" spc="90" dirty="0">
                <a:latin typeface="Cambria"/>
                <a:cs typeface="Cambria"/>
              </a:rPr>
              <a:t> </a:t>
            </a:r>
            <a:r>
              <a:rPr sz="2500" spc="-110" dirty="0">
                <a:latin typeface="Cambria"/>
                <a:cs typeface="Cambria"/>
              </a:rPr>
              <a:t>нагрузок </a:t>
            </a:r>
            <a:r>
              <a:rPr sz="2500" spc="-60" dirty="0">
                <a:latin typeface="Cambria"/>
                <a:cs typeface="Cambria"/>
              </a:rPr>
              <a:t>и</a:t>
            </a:r>
            <a:r>
              <a:rPr sz="2500" spc="-85" dirty="0">
                <a:latin typeface="Cambria"/>
                <a:cs typeface="Cambria"/>
              </a:rPr>
              <a:t> </a:t>
            </a:r>
            <a:r>
              <a:rPr sz="2500" spc="-125" dirty="0">
                <a:latin typeface="Cambria"/>
                <a:cs typeface="Cambria"/>
              </a:rPr>
              <a:t>повреждений</a:t>
            </a:r>
            <a:r>
              <a:rPr sz="2500" spc="50" dirty="0">
                <a:latin typeface="Cambria"/>
                <a:cs typeface="Cambria"/>
              </a:rPr>
              <a:t> </a:t>
            </a:r>
            <a:r>
              <a:rPr sz="2500" spc="-45" dirty="0">
                <a:latin typeface="Cambria"/>
                <a:cs typeface="Cambria"/>
              </a:rPr>
              <a:t>конструкций</a:t>
            </a:r>
            <a:endParaRPr sz="2500" dirty="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13780" y="5486400"/>
            <a:ext cx="4253230" cy="71814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111760" indent="8890">
              <a:lnSpc>
                <a:spcPts val="2500"/>
              </a:lnSpc>
              <a:spcBef>
                <a:spcPts val="600"/>
              </a:spcBef>
            </a:pPr>
            <a:r>
              <a:rPr sz="2500" spc="-30" dirty="0">
                <a:latin typeface="Cambria"/>
                <a:cs typeface="Cambria"/>
              </a:rPr>
              <a:t>2.</a:t>
            </a:r>
            <a:r>
              <a:rPr sz="2500" spc="-90" dirty="0">
                <a:latin typeface="Cambria"/>
                <a:cs typeface="Cambria"/>
              </a:rPr>
              <a:t> </a:t>
            </a:r>
            <a:r>
              <a:rPr sz="2500" spc="-160" dirty="0">
                <a:latin typeface="Cambria"/>
                <a:cs typeface="Cambria"/>
              </a:rPr>
              <a:t>Жидкостные</a:t>
            </a:r>
            <a:r>
              <a:rPr sz="2500" spc="75" dirty="0">
                <a:latin typeface="Cambria"/>
                <a:cs typeface="Cambria"/>
              </a:rPr>
              <a:t> </a:t>
            </a:r>
            <a:r>
              <a:rPr sz="2500" spc="-60" dirty="0">
                <a:latin typeface="Cambria"/>
                <a:cs typeface="Cambria"/>
              </a:rPr>
              <a:t>и</a:t>
            </a:r>
            <a:r>
              <a:rPr sz="2500" spc="-80" dirty="0">
                <a:latin typeface="Cambria"/>
                <a:cs typeface="Cambria"/>
              </a:rPr>
              <a:t> </a:t>
            </a:r>
            <a:r>
              <a:rPr sz="2500" spc="-125" dirty="0" err="1">
                <a:latin typeface="Cambria"/>
                <a:cs typeface="Cambria"/>
              </a:rPr>
              <a:t>многофазные</a:t>
            </a:r>
            <a:r>
              <a:rPr sz="2500" spc="-125" dirty="0">
                <a:latin typeface="Cambria"/>
                <a:cs typeface="Cambria"/>
              </a:rPr>
              <a:t> </a:t>
            </a:r>
            <a:r>
              <a:rPr sz="2500" spc="-10" dirty="0" err="1" smtClean="0">
                <a:latin typeface="Cambria"/>
                <a:cs typeface="Cambria"/>
              </a:rPr>
              <a:t>процессы</a:t>
            </a:r>
            <a:endParaRPr sz="2500" dirty="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99199" y="6409831"/>
            <a:ext cx="4472305" cy="39735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ru-RU" sz="2000" spc="-130" dirty="0" smtClean="0">
                <a:latin typeface="Times New Roman"/>
                <a:cs typeface="Times New Roman"/>
              </a:rPr>
              <a:t>Метод</a:t>
            </a:r>
            <a:r>
              <a:rPr lang="ru-RU" sz="2000" spc="15" dirty="0" smtClean="0">
                <a:latin typeface="Times New Roman"/>
                <a:cs typeface="Times New Roman"/>
              </a:rPr>
              <a:t> </a:t>
            </a:r>
            <a:r>
              <a:rPr lang="ru-RU" sz="2000" spc="-70" dirty="0" smtClean="0">
                <a:latin typeface="Times New Roman"/>
                <a:cs typeface="Times New Roman"/>
              </a:rPr>
              <a:t>эффективен</a:t>
            </a:r>
            <a:r>
              <a:rPr lang="ru-RU" sz="2000" spc="45" dirty="0" smtClean="0">
                <a:latin typeface="Times New Roman"/>
                <a:cs typeface="Times New Roman"/>
              </a:rPr>
              <a:t> </a:t>
            </a:r>
            <a:r>
              <a:rPr lang="ru-RU" sz="2000" spc="-195" dirty="0" smtClean="0">
                <a:latin typeface="Times New Roman"/>
                <a:cs typeface="Times New Roman"/>
              </a:rPr>
              <a:t>в</a:t>
            </a:r>
            <a:r>
              <a:rPr lang="ru-RU" sz="2000" spc="5" dirty="0" smtClean="0">
                <a:latin typeface="Times New Roman"/>
                <a:cs typeface="Times New Roman"/>
              </a:rPr>
              <a:t> </a:t>
            </a:r>
            <a:r>
              <a:rPr lang="ru-RU" sz="2000" spc="-40" dirty="0" smtClean="0">
                <a:latin typeface="Times New Roman"/>
                <a:cs typeface="Times New Roman"/>
              </a:rPr>
              <a:t>задачах</a:t>
            </a:r>
            <a:r>
              <a:rPr lang="ru-RU" sz="2000" spc="10" dirty="0" smtClean="0">
                <a:latin typeface="Times New Roman"/>
                <a:cs typeface="Times New Roman"/>
              </a:rPr>
              <a:t> </a:t>
            </a:r>
            <a:r>
              <a:rPr lang="ru-RU" sz="2000" dirty="0" smtClean="0">
                <a:latin typeface="Times New Roman"/>
                <a:cs typeface="Times New Roman"/>
              </a:rPr>
              <a:t>с</a:t>
            </a:r>
            <a:r>
              <a:rPr lang="ru-RU" sz="2000" spc="-114" dirty="0" smtClean="0">
                <a:latin typeface="Times New Roman"/>
                <a:cs typeface="Times New Roman"/>
              </a:rPr>
              <a:t> </a:t>
            </a:r>
            <a:r>
              <a:rPr lang="ru-RU" sz="2000" spc="-90" dirty="0" smtClean="0">
                <a:latin typeface="Times New Roman"/>
                <a:cs typeface="Times New Roman"/>
              </a:rPr>
              <a:t>большими </a:t>
            </a:r>
            <a:r>
              <a:rPr lang="ru-RU" sz="2000" spc="-45" dirty="0" smtClean="0">
                <a:latin typeface="Times New Roman"/>
                <a:cs typeface="Times New Roman"/>
              </a:rPr>
              <a:t>д</a:t>
            </a:r>
            <a:r>
              <a:rPr sz="2000" spc="-45" dirty="0" smtClean="0">
                <a:latin typeface="Times New Roman"/>
                <a:cs typeface="Times New Roman"/>
              </a:rPr>
              <a:t>е</a:t>
            </a:r>
            <a:r>
              <a:rPr lang="ru-RU" sz="2000" spc="-45" dirty="0" smtClean="0">
                <a:latin typeface="Times New Roman"/>
                <a:cs typeface="Times New Roman"/>
              </a:rPr>
              <a:t>ф</a:t>
            </a:r>
            <a:r>
              <a:rPr sz="2000" spc="-45" dirty="0" err="1" smtClean="0">
                <a:latin typeface="Times New Roman"/>
                <a:cs typeface="Times New Roman"/>
              </a:rPr>
              <a:t>ормациями</a:t>
            </a:r>
            <a:r>
              <a:rPr sz="2000" spc="-45" dirty="0">
                <a:latin typeface="Times New Roman"/>
                <a:cs typeface="Times New Roman"/>
              </a:rPr>
              <a:t>,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75" dirty="0" err="1">
                <a:latin typeface="Times New Roman"/>
                <a:cs typeface="Times New Roman"/>
              </a:rPr>
              <a:t>свободными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lang="ru-RU" sz="2000" spc="-75" dirty="0" smtClean="0">
                <a:latin typeface="Times New Roman"/>
                <a:cs typeface="Times New Roman"/>
              </a:rPr>
              <a:t>поверхностями </a:t>
            </a:r>
            <a:r>
              <a:rPr sz="2000" spc="-50" dirty="0" smtClean="0">
                <a:latin typeface="Times New Roman"/>
                <a:cs typeface="Times New Roman"/>
              </a:rPr>
              <a:t>и</a:t>
            </a:r>
            <a:r>
              <a:rPr lang="ru-RU" sz="2000" spc="-50" dirty="0" smtClean="0">
                <a:latin typeface="Times New Roman"/>
                <a:cs typeface="Times New Roman"/>
              </a:rPr>
              <a:t> </a:t>
            </a:r>
            <a:r>
              <a:rPr lang="ru-RU" sz="2000" spc="-75" dirty="0" smtClean="0">
                <a:latin typeface="Times New Roman"/>
                <a:cs typeface="Times New Roman"/>
              </a:rPr>
              <a:t>фазовыми</a:t>
            </a:r>
            <a:r>
              <a:rPr lang="ru-RU" sz="2000" spc="30" dirty="0" smtClean="0">
                <a:latin typeface="Times New Roman"/>
                <a:cs typeface="Times New Roman"/>
              </a:rPr>
              <a:t> </a:t>
            </a:r>
            <a:r>
              <a:rPr lang="ru-RU" sz="2000" spc="-10" dirty="0" smtClean="0">
                <a:latin typeface="Times New Roman"/>
                <a:cs typeface="Times New Roman"/>
              </a:rPr>
              <a:t>переходами. </a:t>
            </a:r>
          </a:p>
          <a:p>
            <a:pPr marL="12700">
              <a:spcBef>
                <a:spcPts val="105"/>
              </a:spcBef>
            </a:pPr>
            <a:r>
              <a:rPr lang="ru-RU" sz="2000" spc="-40" dirty="0" smtClean="0">
                <a:latin typeface="Times New Roman"/>
                <a:cs typeface="Times New Roman"/>
              </a:rPr>
              <a:t>Примеры:</a:t>
            </a:r>
            <a:r>
              <a:rPr lang="ru-RU" sz="2000" spc="20" dirty="0" smtClean="0">
                <a:latin typeface="Times New Roman"/>
                <a:cs typeface="Times New Roman"/>
              </a:rPr>
              <a:t> </a:t>
            </a:r>
            <a:r>
              <a:rPr lang="ru-RU" sz="2000" spc="-20" dirty="0" smtClean="0">
                <a:latin typeface="Times New Roman"/>
                <a:cs typeface="Times New Roman"/>
              </a:rPr>
              <a:t>моделирование</a:t>
            </a:r>
            <a:r>
              <a:rPr lang="ru-RU" sz="2000" spc="80" dirty="0" smtClean="0">
                <a:latin typeface="Times New Roman"/>
                <a:cs typeface="Times New Roman"/>
              </a:rPr>
              <a:t> </a:t>
            </a:r>
            <a:r>
              <a:rPr lang="ru-RU" sz="2000" spc="-30" dirty="0" smtClean="0">
                <a:latin typeface="Times New Roman"/>
                <a:cs typeface="Times New Roman"/>
              </a:rPr>
              <a:t>аварийного</a:t>
            </a:r>
            <a:r>
              <a:rPr lang="ru-RU" sz="2000" spc="-15" dirty="0" smtClean="0">
                <a:latin typeface="Times New Roman"/>
                <a:cs typeface="Times New Roman"/>
              </a:rPr>
              <a:t> </a:t>
            </a:r>
            <a:r>
              <a:rPr lang="ru-RU" sz="2000" dirty="0" smtClean="0">
                <a:latin typeface="Times New Roman"/>
                <a:cs typeface="Times New Roman"/>
              </a:rPr>
              <a:t>сброса</a:t>
            </a:r>
            <a:r>
              <a:rPr lang="ru-RU" sz="2000" spc="30" dirty="0" smtClean="0">
                <a:latin typeface="Times New Roman"/>
                <a:cs typeface="Times New Roman"/>
              </a:rPr>
              <a:t> </a:t>
            </a:r>
            <a:r>
              <a:rPr lang="ru-RU" sz="2000" spc="-35" dirty="0" smtClean="0">
                <a:latin typeface="Times New Roman"/>
                <a:cs typeface="Times New Roman"/>
              </a:rPr>
              <a:t>топлива </a:t>
            </a:r>
            <a:r>
              <a:rPr lang="ru-RU" sz="2000" spc="65" dirty="0" smtClean="0">
                <a:latin typeface="Times New Roman"/>
                <a:cs typeface="Times New Roman"/>
              </a:rPr>
              <a:t>с</a:t>
            </a:r>
            <a:r>
              <a:rPr lang="ru-RU" sz="2000" spc="-85" dirty="0" smtClean="0">
                <a:latin typeface="Times New Roman"/>
                <a:cs typeface="Times New Roman"/>
              </a:rPr>
              <a:t> </a:t>
            </a:r>
            <a:r>
              <a:rPr lang="ru-RU" sz="2000" dirty="0" smtClean="0">
                <a:latin typeface="Times New Roman"/>
                <a:cs typeface="Times New Roman"/>
              </a:rPr>
              <a:t>самолетов,</a:t>
            </a:r>
            <a:r>
              <a:rPr lang="ru-RU" sz="2000" spc="114" dirty="0" smtClean="0">
                <a:latin typeface="Times New Roman"/>
                <a:cs typeface="Times New Roman"/>
              </a:rPr>
              <a:t> </a:t>
            </a:r>
            <a:r>
              <a:rPr lang="ru-RU" sz="2000" spc="-10" dirty="0" smtClean="0">
                <a:latin typeface="Times New Roman"/>
                <a:cs typeface="Times New Roman"/>
              </a:rPr>
              <a:t>симуляция</a:t>
            </a:r>
            <a:r>
              <a:rPr lang="ru-RU" sz="2000" spc="85" dirty="0" smtClean="0">
                <a:latin typeface="Times New Roman"/>
                <a:cs typeface="Times New Roman"/>
              </a:rPr>
              <a:t> </a:t>
            </a:r>
            <a:r>
              <a:rPr lang="ru-RU" sz="2000" spc="-10" dirty="0" smtClean="0">
                <a:latin typeface="Times New Roman"/>
                <a:cs typeface="Times New Roman"/>
              </a:rPr>
              <a:t>колебаний</a:t>
            </a:r>
            <a:r>
              <a:rPr lang="ru-RU" sz="2000" spc="65" dirty="0" smtClean="0">
                <a:latin typeface="Times New Roman"/>
                <a:cs typeface="Times New Roman"/>
              </a:rPr>
              <a:t> </a:t>
            </a:r>
            <a:r>
              <a:rPr lang="ru-RU" sz="2000" spc="-10" dirty="0" smtClean="0">
                <a:latin typeface="Times New Roman"/>
                <a:cs typeface="Times New Roman"/>
              </a:rPr>
              <a:t>жидкости</a:t>
            </a:r>
            <a:r>
              <a:rPr lang="ru-RU" sz="2000" spc="155" dirty="0" smtClean="0">
                <a:latin typeface="Times New Roman"/>
                <a:cs typeface="Times New Roman"/>
              </a:rPr>
              <a:t> </a:t>
            </a:r>
            <a:r>
              <a:rPr lang="ru-RU" sz="2000" spc="-50" dirty="0" smtClean="0">
                <a:latin typeface="Times New Roman"/>
                <a:cs typeface="Times New Roman"/>
              </a:rPr>
              <a:t>в </a:t>
            </a:r>
            <a:r>
              <a:rPr lang="ru-RU" sz="2000" dirty="0" smtClean="0">
                <a:latin typeface="Times New Roman"/>
                <a:cs typeface="Times New Roman"/>
              </a:rPr>
              <a:t>резервуарах</a:t>
            </a:r>
            <a:r>
              <a:rPr lang="ru-RU" sz="2000" spc="114" dirty="0" smtClean="0">
                <a:latin typeface="Times New Roman"/>
                <a:cs typeface="Times New Roman"/>
              </a:rPr>
              <a:t> </a:t>
            </a:r>
            <a:r>
              <a:rPr lang="ru-RU" sz="2000" spc="-45" dirty="0" smtClean="0">
                <a:latin typeface="Times New Roman"/>
                <a:cs typeface="Times New Roman"/>
              </a:rPr>
              <a:t>(слошинга),</a:t>
            </a:r>
            <a:r>
              <a:rPr lang="ru-RU" sz="2000" spc="170" dirty="0" smtClean="0">
                <a:latin typeface="Times New Roman"/>
                <a:cs typeface="Times New Roman"/>
              </a:rPr>
              <a:t> </a:t>
            </a:r>
            <a:r>
              <a:rPr lang="ru-RU" sz="2000" dirty="0" smtClean="0">
                <a:latin typeface="Times New Roman"/>
                <a:cs typeface="Times New Roman"/>
              </a:rPr>
              <a:t>а</a:t>
            </a:r>
            <a:r>
              <a:rPr lang="ru-RU" sz="2000" spc="130" dirty="0" smtClean="0">
                <a:latin typeface="Times New Roman"/>
                <a:cs typeface="Times New Roman"/>
              </a:rPr>
              <a:t> </a:t>
            </a:r>
            <a:r>
              <a:rPr lang="ru-RU" sz="2000" spc="-55" dirty="0" smtClean="0">
                <a:latin typeface="Times New Roman"/>
                <a:cs typeface="Times New Roman"/>
              </a:rPr>
              <a:t>так</a:t>
            </a:r>
            <a:r>
              <a:rPr lang="ru-RU" sz="2000" spc="-235" dirty="0">
                <a:latin typeface="Times New Roman"/>
                <a:cs typeface="Times New Roman"/>
              </a:rPr>
              <a:t>ж</a:t>
            </a:r>
            <a:r>
              <a:rPr lang="ru-RU" sz="2000" dirty="0" smtClean="0">
                <a:latin typeface="Times New Roman"/>
                <a:cs typeface="Times New Roman"/>
              </a:rPr>
              <a:t>е</a:t>
            </a:r>
            <a:r>
              <a:rPr lang="ru-RU" sz="2000" spc="65" dirty="0" smtClean="0">
                <a:latin typeface="Times New Roman"/>
                <a:cs typeface="Times New Roman"/>
              </a:rPr>
              <a:t> </a:t>
            </a:r>
            <a:r>
              <a:rPr lang="ru-RU" sz="2000" spc="-10" dirty="0" smtClean="0">
                <a:latin typeface="Times New Roman"/>
                <a:cs typeface="Times New Roman"/>
              </a:rPr>
              <a:t>моделирование испарения капель</a:t>
            </a:r>
            <a:r>
              <a:rPr lang="ru-RU" sz="2000" dirty="0" smtClean="0">
                <a:latin typeface="Times New Roman"/>
                <a:cs typeface="Times New Roman"/>
              </a:rPr>
              <a:t>.</a:t>
            </a:r>
            <a:r>
              <a:rPr lang="ru-RU" sz="2000" spc="-35" dirty="0" smtClean="0">
                <a:latin typeface="Times New Roman"/>
                <a:cs typeface="Times New Roman"/>
              </a:rPr>
              <a:t> </a:t>
            </a:r>
            <a:r>
              <a:rPr lang="ru-RU" sz="2000" spc="-10" dirty="0" smtClean="0">
                <a:latin typeface="Times New Roman"/>
                <a:cs typeface="Times New Roman"/>
              </a:rPr>
              <a:t>Лагранжев</a:t>
            </a:r>
            <a:r>
              <a:rPr lang="ru-RU" sz="2000" dirty="0" smtClean="0">
                <a:latin typeface="Times New Roman"/>
                <a:cs typeface="Times New Roman"/>
              </a:rPr>
              <a:t> подход </a:t>
            </a:r>
            <a:r>
              <a:rPr lang="ru-RU" sz="2000" spc="-10" dirty="0" smtClean="0">
                <a:latin typeface="Times New Roman"/>
                <a:cs typeface="Times New Roman"/>
              </a:rPr>
              <a:t>упрощает уравнения и обеспечивает естественную обработку границ</a:t>
            </a:r>
            <a:endParaRPr lang="ru-RU" sz="2000" dirty="0" smtClean="0">
              <a:latin typeface="Times New Roman"/>
              <a:cs typeface="Times New Roman"/>
            </a:endParaRPr>
          </a:p>
          <a:p>
            <a:pPr marL="12700">
              <a:spcBef>
                <a:spcPts val="105"/>
              </a:spcBef>
            </a:pPr>
            <a:endParaRPr lang="ru-RU" dirty="0" smtClean="0">
              <a:latin typeface="Times New Roman"/>
              <a:cs typeface="Times New Roman"/>
            </a:endParaRPr>
          </a:p>
          <a:p>
            <a:pPr marL="12700">
              <a:spcBef>
                <a:spcPts val="105"/>
              </a:spcBef>
            </a:pPr>
            <a:endParaRPr lang="ru-RU" sz="18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6600" y="6434386"/>
            <a:ext cx="5173042" cy="24756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ГСЧ применяется для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симуляqяи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процессов с высокими давлениями, ударными волнами и фрагментацией.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Гибридные модели (например, ГСЧ 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перидикамики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используются для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аналиsа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повреждений бетонных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плотнн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подводными взрывами и моделирования проникновения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кумупятивной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струи в бетон.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2623800" y="5469087"/>
            <a:ext cx="5359400" cy="735458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 marR="1735455" indent="6350">
              <a:lnSpc>
                <a:spcPts val="2500"/>
              </a:lnSpc>
              <a:spcBef>
                <a:spcPts val="735"/>
              </a:spcBef>
            </a:pPr>
            <a:r>
              <a:rPr sz="2600" spc="-125" dirty="0">
                <a:latin typeface="Times New Roman"/>
                <a:cs typeface="Times New Roman"/>
              </a:rPr>
              <a:t>3.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Геомеханические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и </a:t>
            </a:r>
            <a:r>
              <a:rPr sz="2600" spc="-60" dirty="0" err="1" smtClean="0">
                <a:latin typeface="Times New Roman"/>
                <a:cs typeface="Times New Roman"/>
              </a:rPr>
              <a:t>промышленные</a:t>
            </a:r>
            <a:r>
              <a:rPr sz="2600" spc="70" dirty="0" smtClean="0">
                <a:latin typeface="Times New Roman"/>
                <a:cs typeface="Times New Roman"/>
              </a:rPr>
              <a:t> </a:t>
            </a:r>
            <a:r>
              <a:rPr sz="2600" spc="-60" dirty="0" err="1" smtClean="0">
                <a:latin typeface="Times New Roman"/>
                <a:cs typeface="Times New Roman"/>
              </a:rPr>
              <a:t>задачи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166600" y="6409831"/>
            <a:ext cx="4450715" cy="2391038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11430">
              <a:lnSpc>
                <a:spcPct val="95200"/>
              </a:lnSpc>
              <a:spcBef>
                <a:spcPts val="204"/>
              </a:spcBef>
              <a:tabLst>
                <a:tab pos="1624330" algn="l"/>
              </a:tabLst>
            </a:pPr>
            <a:r>
              <a:rPr lang="ru-RU" sz="2000" spc="-75" dirty="0" smtClean="0">
                <a:latin typeface="Times New Roman"/>
                <a:cs typeface="Times New Roman"/>
              </a:rPr>
              <a:t>Прогнозирование</a:t>
            </a:r>
            <a:r>
              <a:rPr lang="ru-RU" sz="2000" spc="-40" dirty="0" smtClean="0">
                <a:latin typeface="Times New Roman"/>
                <a:cs typeface="Times New Roman"/>
              </a:rPr>
              <a:t> </a:t>
            </a:r>
            <a:r>
              <a:rPr lang="ru-RU" sz="2000" spc="-65" dirty="0" smtClean="0">
                <a:latin typeface="Times New Roman"/>
                <a:cs typeface="Times New Roman"/>
              </a:rPr>
              <a:t>траектории</a:t>
            </a:r>
            <a:r>
              <a:rPr lang="ru-RU" sz="2000" spc="95" dirty="0" smtClean="0">
                <a:latin typeface="Times New Roman"/>
                <a:cs typeface="Times New Roman"/>
              </a:rPr>
              <a:t> </a:t>
            </a:r>
            <a:r>
              <a:rPr lang="ru-RU" sz="2000" spc="-40" dirty="0" smtClean="0">
                <a:latin typeface="Times New Roman"/>
                <a:cs typeface="Times New Roman"/>
              </a:rPr>
              <a:t>разливов</a:t>
            </a:r>
            <a:r>
              <a:rPr lang="ru-RU" sz="2000" spc="-20" dirty="0" smtClean="0">
                <a:latin typeface="Times New Roman"/>
                <a:cs typeface="Times New Roman"/>
              </a:rPr>
              <a:t> </a:t>
            </a:r>
            <a:r>
              <a:rPr lang="ru-RU" sz="2000" spc="-90" dirty="0" smtClean="0">
                <a:latin typeface="Times New Roman"/>
                <a:cs typeface="Times New Roman"/>
              </a:rPr>
              <a:t>нефти </a:t>
            </a:r>
            <a:r>
              <a:rPr lang="ru-RU" sz="2000" dirty="0" smtClean="0">
                <a:latin typeface="Times New Roman"/>
                <a:cs typeface="Times New Roman"/>
              </a:rPr>
              <a:t>в</a:t>
            </a:r>
            <a:r>
              <a:rPr lang="ru-RU" sz="2000" spc="-114" dirty="0" smtClean="0">
                <a:latin typeface="Times New Roman"/>
                <a:cs typeface="Times New Roman"/>
              </a:rPr>
              <a:t> </a:t>
            </a:r>
            <a:r>
              <a:rPr lang="ru-RU" sz="2000" spc="-105" dirty="0" smtClean="0">
                <a:latin typeface="Times New Roman"/>
                <a:cs typeface="Times New Roman"/>
              </a:rPr>
              <a:t>горных</a:t>
            </a:r>
            <a:r>
              <a:rPr lang="ru-RU" sz="2000" spc="-5" dirty="0" smtClean="0">
                <a:latin typeface="Times New Roman"/>
                <a:cs typeface="Times New Roman"/>
              </a:rPr>
              <a:t> </a:t>
            </a:r>
            <a:r>
              <a:rPr lang="ru-RU" sz="2000" spc="-75" dirty="0" smtClean="0">
                <a:latin typeface="Times New Roman"/>
                <a:cs typeface="Times New Roman"/>
              </a:rPr>
              <a:t>ландшафтах,</a:t>
            </a:r>
            <a:r>
              <a:rPr lang="ru-RU" sz="2000" spc="100" dirty="0">
                <a:latin typeface="Times New Roman"/>
                <a:cs typeface="Times New Roman"/>
              </a:rPr>
              <a:t> </a:t>
            </a:r>
            <a:r>
              <a:rPr lang="ru-RU" sz="2000" spc="100" dirty="0" smtClean="0">
                <a:latin typeface="Times New Roman"/>
                <a:cs typeface="Times New Roman"/>
              </a:rPr>
              <a:t>при использовании ГСЧ</a:t>
            </a:r>
            <a:r>
              <a:rPr lang="ru-RU" sz="2000" spc="15" dirty="0" smtClean="0">
                <a:latin typeface="Times New Roman"/>
                <a:cs typeface="Times New Roman"/>
              </a:rPr>
              <a:t> </a:t>
            </a:r>
            <a:r>
              <a:rPr lang="ru-RU" sz="2000" spc="-20" dirty="0" smtClean="0">
                <a:latin typeface="Times New Roman"/>
                <a:cs typeface="Times New Roman"/>
              </a:rPr>
              <a:t>время </a:t>
            </a:r>
            <a:r>
              <a:rPr lang="ru-RU" sz="2000" dirty="0" smtClean="0">
                <a:latin typeface="Times New Roman"/>
                <a:cs typeface="Times New Roman"/>
              </a:rPr>
              <a:t> </a:t>
            </a:r>
            <a:r>
              <a:rPr lang="ru-RU" sz="2000" spc="-65" dirty="0" smtClean="0">
                <a:latin typeface="Times New Roman"/>
                <a:cs typeface="Times New Roman"/>
              </a:rPr>
              <a:t>расчета </a:t>
            </a:r>
            <a:r>
              <a:rPr lang="ru-RU" sz="2000" spc="-10" dirty="0" smtClean="0">
                <a:latin typeface="Times New Roman"/>
                <a:cs typeface="Times New Roman"/>
              </a:rPr>
              <a:t>снижается </a:t>
            </a:r>
            <a:r>
              <a:rPr lang="ru-RU" sz="2000" dirty="0" smtClean="0">
                <a:latin typeface="Times New Roman"/>
                <a:cs typeface="Times New Roman"/>
              </a:rPr>
              <a:t>с</a:t>
            </a:r>
            <a:r>
              <a:rPr lang="ru-RU" sz="2000" spc="25" dirty="0" smtClean="0">
                <a:latin typeface="Times New Roman"/>
                <a:cs typeface="Times New Roman"/>
              </a:rPr>
              <a:t> </a:t>
            </a:r>
            <a:r>
              <a:rPr lang="ru-RU" sz="2000" spc="-85" dirty="0" smtClean="0">
                <a:latin typeface="Times New Roman"/>
                <a:cs typeface="Times New Roman"/>
              </a:rPr>
              <a:t>часов</a:t>
            </a:r>
            <a:r>
              <a:rPr lang="ru-RU" sz="2000" spc="-30" dirty="0" smtClean="0">
                <a:latin typeface="Times New Roman"/>
                <a:cs typeface="Times New Roman"/>
              </a:rPr>
              <a:t> </a:t>
            </a:r>
            <a:r>
              <a:rPr lang="ru-RU" sz="2000" dirty="0" smtClean="0">
                <a:latin typeface="Times New Roman"/>
                <a:cs typeface="Times New Roman"/>
              </a:rPr>
              <a:t>до</a:t>
            </a:r>
            <a:r>
              <a:rPr lang="ru-RU" sz="2000" spc="-65" dirty="0" smtClean="0">
                <a:latin typeface="Times New Roman"/>
                <a:cs typeface="Times New Roman"/>
              </a:rPr>
              <a:t> </a:t>
            </a:r>
            <a:r>
              <a:rPr lang="ru-RU" sz="2000" spc="-10" dirty="0" smtClean="0">
                <a:latin typeface="Times New Roman"/>
                <a:cs typeface="Times New Roman"/>
              </a:rPr>
              <a:t>минут.</a:t>
            </a:r>
            <a:endParaRPr lang="ru-RU" sz="2000" spc="-60" dirty="0" smtClean="0">
              <a:latin typeface="Times New Roman"/>
              <a:cs typeface="Times New Roman"/>
            </a:endParaRPr>
          </a:p>
          <a:p>
            <a:pPr marL="12700" marR="5080" indent="11430">
              <a:lnSpc>
                <a:spcPct val="95200"/>
              </a:lnSpc>
              <a:spcBef>
                <a:spcPts val="204"/>
              </a:spcBef>
              <a:tabLst>
                <a:tab pos="1624330" algn="l"/>
              </a:tabLst>
            </a:pPr>
            <a:r>
              <a:rPr sz="2000" spc="-60" dirty="0" err="1" smtClean="0">
                <a:latin typeface="Times New Roman"/>
                <a:cs typeface="Times New Roman"/>
              </a:rPr>
              <a:t>Моде</a:t>
            </a:r>
            <a:r>
              <a:rPr lang="ru-RU" sz="2000" spc="-60" dirty="0" smtClean="0">
                <a:latin typeface="Times New Roman"/>
                <a:cs typeface="Times New Roman"/>
              </a:rPr>
              <a:t>л</a:t>
            </a:r>
            <a:r>
              <a:rPr sz="2000" spc="-60" dirty="0" err="1" smtClean="0">
                <a:latin typeface="Times New Roman"/>
                <a:cs typeface="Times New Roman"/>
              </a:rPr>
              <a:t>ироаание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lang="ru-RU" sz="2000" spc="-70" dirty="0" err="1" smtClean="0">
                <a:latin typeface="Times New Roman"/>
                <a:cs typeface="Times New Roman"/>
              </a:rPr>
              <a:t>эластопластических</a:t>
            </a:r>
            <a:r>
              <a:rPr sz="2000" spc="-70" dirty="0" smtClean="0">
                <a:latin typeface="Times New Roman"/>
                <a:cs typeface="Times New Roman"/>
              </a:rPr>
              <a:t> </a:t>
            </a:r>
            <a:r>
              <a:rPr sz="2000" spc="-55" dirty="0" err="1" smtClean="0">
                <a:latin typeface="Times New Roman"/>
                <a:cs typeface="Times New Roman"/>
              </a:rPr>
              <a:t>деформаqий</a:t>
            </a:r>
            <a:r>
              <a:rPr lang="ru-RU" sz="2000" spc="-55" dirty="0" smtClean="0">
                <a:latin typeface="Times New Roman"/>
                <a:cs typeface="Times New Roman"/>
              </a:rPr>
              <a:t> при вытяжке металлов</a:t>
            </a:r>
            <a:r>
              <a:rPr sz="2000" spc="-10" dirty="0" smtClean="0">
                <a:latin typeface="Times New Roman"/>
                <a:cs typeface="Times New Roman"/>
              </a:rPr>
              <a:t>. </a:t>
            </a:r>
            <a:r>
              <a:rPr sz="2000" spc="-10" dirty="0" err="1" smtClean="0">
                <a:latin typeface="Times New Roman"/>
                <a:cs typeface="Times New Roman"/>
              </a:rPr>
              <a:t>Анализ</a:t>
            </a:r>
            <a:r>
              <a:rPr lang="ru-RU" sz="2000" spc="-10" dirty="0" smtClean="0">
                <a:latin typeface="Times New Roman"/>
                <a:cs typeface="Times New Roman"/>
              </a:rPr>
              <a:t> </a:t>
            </a:r>
            <a:r>
              <a:rPr lang="ru-RU" sz="2000" spc="-10" dirty="0" err="1" smtClean="0">
                <a:latin typeface="Times New Roman"/>
                <a:cs typeface="Times New Roman"/>
              </a:rPr>
              <a:t>высокочастотгых</a:t>
            </a:r>
            <a:r>
              <a:rPr lang="ru-RU" sz="2000" spc="-10" dirty="0" smtClean="0">
                <a:latin typeface="Times New Roman"/>
                <a:cs typeface="Times New Roman"/>
              </a:rPr>
              <a:t> ударов ледокола о лед.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6426688" y="9167199"/>
            <a:ext cx="1048512" cy="563541"/>
          </a:xfrm>
        </p:spPr>
        <p:txBody>
          <a:bodyPr/>
          <a:lstStyle/>
          <a:p>
            <a:fld id="{B6F15528-21DE-4FAA-801E-634DDDAF4B2B}" type="slidenum">
              <a:rPr lang="ru-RU" smtClean="0">
                <a:solidFill>
                  <a:schemeClr val="tx1"/>
                </a:solidFill>
              </a:rPr>
              <a:t>3</a:t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5234" y="321733"/>
            <a:ext cx="13056869" cy="1188288"/>
          </a:xfrm>
          <a:prstGeom prst="rect">
            <a:avLst/>
          </a:prstGeom>
        </p:spPr>
        <p:txBody>
          <a:bodyPr vert="horz" wrap="square" lIns="0" tIns="262396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30"/>
              </a:spcBef>
            </a:pPr>
            <a:r>
              <a:rPr sz="6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Основы</a:t>
            </a:r>
            <a:r>
              <a:rPr sz="60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ГСЧ:</a:t>
            </a:r>
            <a:r>
              <a:rPr sz="60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Дискретизация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/>
              <p:cNvSpPr txBox="1"/>
              <p:nvPr/>
            </p:nvSpPr>
            <p:spPr>
              <a:xfrm>
                <a:off x="740964" y="2405435"/>
                <a:ext cx="6796405" cy="2283574"/>
              </a:xfrm>
              <a:prstGeom prst="rect">
                <a:avLst/>
              </a:prstGeom>
            </p:spPr>
            <p:txBody>
              <a:bodyPr vert="horz" wrap="square" lIns="0" tIns="146685" rIns="0" bIns="0" rtlCol="0">
                <a:spAutoFit/>
              </a:bodyPr>
              <a:lstStyle/>
              <a:p>
                <a:pPr marL="19685" marR="5080" indent="-2540" algn="l">
                  <a:lnSpc>
                    <a:spcPct val="90500"/>
                  </a:lnSpc>
                  <a:spcBef>
                    <a:spcPts val="1115"/>
                  </a:spcBef>
                  <a:tabLst>
                    <a:tab pos="3110865" algn="l"/>
                  </a:tabLst>
                </a:pPr>
                <a:r>
                  <a:rPr lang="ru-RU" sz="2400" spc="-215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Концепция</a:t>
                </a:r>
                <a:r>
                  <a:rPr lang="ru-RU" sz="2400" spc="135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16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ГСЧ</a:t>
                </a:r>
                <a:r>
                  <a:rPr lang="ru-RU" sz="2400" spc="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2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</a:t>
                </a:r>
                <a:r>
                  <a:rPr lang="ru-RU" sz="2400" spc="-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16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это</a:t>
                </a:r>
                <a:r>
                  <a:rPr lang="ru-RU" sz="2400" spc="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метод</a:t>
                </a:r>
                <a:r>
                  <a:rPr lang="ru-RU" sz="2400" spc="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1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дискретизации </a:t>
                </a:r>
                <a:r>
                  <a:rPr lang="ru-RU" sz="2400" spc="-10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пространственных</a:t>
                </a:r>
                <a:r>
                  <a:rPr lang="ru-RU" sz="2400" spc="-3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13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полевых</a:t>
                </a:r>
                <a:r>
                  <a:rPr lang="ru-RU" sz="2400" spc="6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15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величин</a:t>
                </a:r>
                <a:r>
                  <a:rPr lang="ru-RU" sz="2400" spc="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13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(таких</a:t>
                </a:r>
                <a:r>
                  <a:rPr lang="ru-RU" sz="2400" spc="1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как </a:t>
                </a:r>
                <a:r>
                  <a:rPr lang="ru-RU" sz="2400" spc="-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градиент,</a:t>
                </a:r>
                <a:r>
                  <a:rPr lang="ru-RU" sz="2400" spc="1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9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диверге</a:t>
                </a:r>
                <a:r>
                  <a:rPr lang="ru-RU" sz="2400" spc="-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</a:t>
                </a:r>
                <a:r>
                  <a:rPr lang="ru-RU" sz="2400" spc="-9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ция</a:t>
                </a:r>
                <a:r>
                  <a:rPr lang="ru-RU" sz="2400" spc="-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sz="2400" spc="-9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19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ротор</a:t>
                </a:r>
                <a:r>
                  <a:rPr lang="ru-RU" sz="2400" spc="-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400" spc="6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43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</a:t>
                </a:r>
                <a:r>
                  <a:rPr lang="ru-RU" sz="2400" spc="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1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дифферекциальных </a:t>
                </a:r>
                <a:r>
                  <a:rPr lang="ru-RU" sz="24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операторов.</a:t>
                </a: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9050" marR="721995" indent="-5715" algn="l">
                  <a:lnSpc>
                    <a:spcPct val="89400"/>
                  </a:lnSpc>
                  <a:spcBef>
                    <a:spcPts val="1080"/>
                  </a:spcBef>
                </a:pPr>
                <a:r>
                  <a:rPr lang="ru-RU" sz="2400" spc="-6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Тождество</a:t>
                </a:r>
                <a:r>
                  <a:rPr lang="ru-RU" sz="2400" spc="3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7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Дирака-δ</a:t>
                </a:r>
                <a:r>
                  <a:rPr lang="ru-RU" sz="2400" spc="9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8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используется</a:t>
                </a:r>
                <a:r>
                  <a:rPr lang="ru-RU" sz="2400" spc="229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15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как</a:t>
                </a:r>
                <a:r>
                  <a:rPr lang="ru-RU" sz="2400" spc="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основа: </a:t>
                </a:r>
                <a:r>
                  <a:rPr lang="ru-RU" sz="2400" spc="-185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свертка</a:t>
                </a:r>
                <a:r>
                  <a:rPr lang="ru-RU" sz="2400" spc="1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17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непрерывной функции </a:t>
                </a:r>
                <a:r>
                  <a:rPr lang="ru-RU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А(х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400" i="1" spc="-3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 </a:t>
                </a:r>
                <a:r>
                  <a:rPr lang="ru-RU" sz="2400" spc="-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распределением</a:t>
                </a:r>
                <a:r>
                  <a:rPr lang="ru-RU" sz="2400" spc="-6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12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Дирака-</a:t>
                </a:r>
                <a:r>
                  <a:rPr lang="ru-RU" sz="2400" spc="-7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δ</a:t>
                </a:r>
                <a:r>
                  <a:rPr lang="ru-RU" sz="2400" spc="-15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16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идентична</a:t>
                </a:r>
                <a:r>
                  <a:rPr lang="ru-RU" sz="2400" spc="20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45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самой  </a:t>
                </a:r>
                <a14:m>
                  <m:oMath xmlns:m="http://schemas.openxmlformats.org/officeDocument/2006/math">
                    <m:r>
                      <a:rPr lang="en-US" sz="2400" b="0" i="1" spc="-45" smtClean="0">
                        <a:latin typeface="Cambria Math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ru-RU" sz="2400" spc="-25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64" y="2405435"/>
                <a:ext cx="6796405" cy="2283574"/>
              </a:xfrm>
              <a:prstGeom prst="rect">
                <a:avLst/>
              </a:prstGeom>
              <a:blipFill rotWithShape="1">
                <a:blip r:embed="rId2"/>
                <a:stretch>
                  <a:fillRect l="-2603" r="-1706" b="-72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/>
              <p:cNvSpPr txBox="1"/>
              <p:nvPr/>
            </p:nvSpPr>
            <p:spPr>
              <a:xfrm>
                <a:off x="725853" y="5292871"/>
                <a:ext cx="6796405" cy="2662908"/>
              </a:xfrm>
              <a:prstGeom prst="rect">
                <a:avLst/>
              </a:prstGeom>
            </p:spPr>
            <p:txBody>
              <a:bodyPr vert="horz" wrap="square" lIns="0" tIns="169545" rIns="0" bIns="0" rtlCol="0">
                <a:spAutoFit/>
              </a:bodyPr>
              <a:lstStyle/>
              <a:p>
                <a:pPr marL="12700" marR="84455" indent="10795" algn="l">
                  <a:lnSpc>
                    <a:spcPct val="90300"/>
                  </a:lnSpc>
                  <a:spcBef>
                    <a:spcPts val="1200"/>
                  </a:spcBef>
                  <a:tabLst>
                    <a:tab pos="2247265" algn="l"/>
                  </a:tabLst>
                </a:pPr>
                <a:r>
                  <a:rPr lang="ru-RU" sz="2350" spc="-6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Распределение</a:t>
                </a:r>
                <a:r>
                  <a:rPr lang="ru-RU" sz="2350" spc="27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350" spc="-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Дирака-</a:t>
                </a:r>
                <a:r>
                  <a:rPr lang="ru-RU" sz="23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</a:t>
                </a:r>
                <a:r>
                  <a:rPr lang="ru-RU" sz="2350" spc="2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350" spc="-3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аппроксимируется </a:t>
                </a:r>
                <a:r>
                  <a:rPr lang="ru-RU" sz="2500" spc="-22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нормированным</a:t>
                </a:r>
                <a:r>
                  <a:rPr lang="ru-RU" sz="2500" spc="229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500" spc="-15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гауссовым</a:t>
                </a:r>
                <a:r>
                  <a:rPr lang="ru-RU" sz="2500" spc="1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500" spc="-15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распределением</a:t>
                </a:r>
                <a:r>
                  <a:rPr lang="ru-RU" sz="2500" spc="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500" spc="-32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или </a:t>
                </a:r>
                <a:r>
                  <a:rPr lang="ru-RU" sz="2400" spc="-7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сглаживающими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sz="2400" spc="-1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ядрами</a:t>
                </a:r>
                <a:r>
                  <a:rPr lang="ru-RU" sz="2400" spc="4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W(r,h).</a:t>
                </a: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3495" algn="l">
                  <a:lnSpc>
                    <a:spcPts val="2660"/>
                  </a:lnSpc>
                  <a:spcBef>
                    <a:spcPts val="819"/>
                  </a:spcBef>
                </a:pPr>
                <a:r>
                  <a:rPr lang="ru-RU" sz="2350" spc="-114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Интеграл заменяется суммой по дискретным точкам выборки, которые называются частицами</a:t>
                </a:r>
                <a:r>
                  <a:rPr lang="ru-RU" sz="2500" spc="-114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Каждая частица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/>
                        <a:cs typeface="Cambria"/>
                      </a:rPr>
                      <m:t>𝑗</m:t>
                    </m:r>
                  </m:oMath>
                </a14:m>
                <a:r>
                  <a:rPr 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имеет местоположение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/>
                            <a:cs typeface="Cambria"/>
                          </a:rPr>
                          <m:t>𝑥</m:t>
                        </m:r>
                      </m:e>
                      <m:sub>
                        <m:r>
                          <a:rPr lang="en-US" sz="25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несет массу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5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5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величину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5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5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53" y="5292871"/>
                <a:ext cx="6796405" cy="2662908"/>
              </a:xfrm>
              <a:prstGeom prst="rect">
                <a:avLst/>
              </a:prstGeom>
              <a:blipFill rotWithShape="1">
                <a:blip r:embed="rId3"/>
                <a:stretch>
                  <a:fillRect l="-2601" r="-1256" b="-57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bject 15"/>
          <p:cNvSpPr txBox="1"/>
          <p:nvPr/>
        </p:nvSpPr>
        <p:spPr>
          <a:xfrm>
            <a:off x="8547968" y="2327627"/>
            <a:ext cx="2729230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dirty="0">
                <a:latin typeface="Cambria"/>
                <a:cs typeface="Cambria"/>
              </a:rPr>
              <a:t>1.</a:t>
            </a:r>
            <a:r>
              <a:rPr sz="2200" spc="55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Непрерывное</a:t>
            </a:r>
            <a:r>
              <a:rPr sz="2200" spc="240" dirty="0">
                <a:latin typeface="Cambria"/>
                <a:cs typeface="Cambria"/>
              </a:rPr>
              <a:t> </a:t>
            </a:r>
            <a:r>
              <a:rPr sz="2200" spc="-20" dirty="0">
                <a:latin typeface="Cambria"/>
                <a:cs typeface="Cambria"/>
              </a:rPr>
              <a:t>поле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65757" y="4142669"/>
            <a:ext cx="230759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latin typeface="Cambria"/>
                <a:cs typeface="Cambria"/>
              </a:rPr>
              <a:t>2.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150" dirty="0">
                <a:latin typeface="Cambria"/>
                <a:cs typeface="Cambria"/>
              </a:rPr>
              <a:t>Аппроксимация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64115" y="5980288"/>
            <a:ext cx="225107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dirty="0">
                <a:latin typeface="Cambria"/>
                <a:cs typeface="Cambria"/>
              </a:rPr>
              <a:t>3. </a:t>
            </a:r>
            <a:r>
              <a:rPr sz="2350" spc="-100" dirty="0">
                <a:latin typeface="Cambria"/>
                <a:cs typeface="Cambria"/>
              </a:rPr>
              <a:t>Дискретизация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61558" y="7449608"/>
            <a:ext cx="3513454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dirty="0">
                <a:latin typeface="Cambria"/>
                <a:cs typeface="Cambria"/>
              </a:rPr>
              <a:t>4.</a:t>
            </a:r>
            <a:r>
              <a:rPr sz="2300" spc="-15" dirty="0">
                <a:latin typeface="Cambria"/>
                <a:cs typeface="Cambria"/>
              </a:rPr>
              <a:t> </a:t>
            </a:r>
            <a:r>
              <a:rPr sz="2300" spc="-65" dirty="0">
                <a:latin typeface="Cambria"/>
                <a:cs typeface="Cambria"/>
              </a:rPr>
              <a:t>Формула</a:t>
            </a:r>
            <a:r>
              <a:rPr sz="2300" spc="195" dirty="0">
                <a:latin typeface="Cambria"/>
                <a:cs typeface="Cambria"/>
              </a:rPr>
              <a:t> </a:t>
            </a:r>
            <a:r>
              <a:rPr sz="2300" spc="-80" dirty="0">
                <a:latin typeface="Cambria"/>
                <a:cs typeface="Cambria"/>
              </a:rPr>
              <a:t>аппроксимации</a:t>
            </a:r>
            <a:endParaRPr sz="2300">
              <a:latin typeface="Cambria"/>
              <a:cs typeface="Cambr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9"/>
              <p:cNvSpPr txBox="1"/>
              <p:nvPr/>
            </p:nvSpPr>
            <p:spPr>
              <a:xfrm>
                <a:off x="9398000" y="7924798"/>
                <a:ext cx="8077200" cy="1113895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ru-RU" sz="2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ru-RU" sz="2800" b="1" i="1">
                              <a:latin typeface="Cambria Math"/>
                            </a:rPr>
                            <m:t>𝒓</m:t>
                          </m:r>
                        </m:e>
                      </m:d>
                      <m:r>
                        <a:rPr lang="ru-RU" sz="2800" b="1" i="1">
                          <a:latin typeface="Cambria Math"/>
                        </a:rPr>
                        <m:t>= 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28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ru-RU" sz="2800" i="1">
                              <a:latin typeface="Cambria Math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ru-RU" sz="28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f>
                        <m:fPr>
                          <m:ctrlPr>
                            <a:rPr lang="ru-RU" sz="2800" b="1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2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ru-RU" sz="2800" i="1">
                          <a:latin typeface="Cambria Math"/>
                        </a:rPr>
                        <m:t>𝑊</m:t>
                      </m:r>
                      <m:r>
                        <a:rPr lang="ru-RU" sz="2800" b="1" i="1">
                          <a:latin typeface="Cambria Math"/>
                        </a:rPr>
                        <m:t>(</m:t>
                      </m:r>
                      <m:r>
                        <a:rPr lang="ru-RU" sz="2800" b="1" i="1">
                          <a:latin typeface="Cambria Math"/>
                        </a:rPr>
                        <m:t>𝒓</m:t>
                      </m:r>
                      <m:r>
                        <a:rPr lang="ru-RU" sz="2800" b="1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ru-RU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sz="2800" b="1" i="1">
                              <a:latin typeface="Cambria Math"/>
                            </a:rPr>
                            <m:t>𝒓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ru-RU" sz="2800" i="1">
                          <a:latin typeface="Cambria Math"/>
                        </a:rPr>
                        <m:t>,</m:t>
                      </m:r>
                      <m:r>
                        <a:rPr lang="ru-RU" sz="2800" i="1">
                          <a:latin typeface="Cambria Math"/>
                        </a:rPr>
                        <m:t>h</m:t>
                      </m:r>
                      <m:r>
                        <a:rPr lang="ru-RU" sz="28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2800" dirty="0">
                  <a:latin typeface="Cambria"/>
                  <a:cs typeface="Cambria"/>
                </a:endParaRPr>
              </a:p>
            </p:txBody>
          </p:sp>
        </mc:Choice>
        <mc:Fallback xmlns="">
          <p:sp>
            <p:nvSpPr>
              <p:cNvPr id="19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0" y="7924798"/>
                <a:ext cx="8077200" cy="111389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Прямоугольник 26"/>
              <p:cNvSpPr/>
              <p:nvPr/>
            </p:nvSpPr>
            <p:spPr>
              <a:xfrm>
                <a:off x="13867629" y="2110213"/>
                <a:ext cx="3428503" cy="8188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000000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𝐴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ru-RU" b="1" i="1"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  <m:t>𝒙</m:t>
                          </m:r>
                        </m:e>
                      </m:d>
                      <m:r>
                        <a:rPr lang="ru-RU" i="1"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ru-RU" i="1">
                              <a:effectLst/>
                              <a:latin typeface="Cambria Math"/>
                              <a:cs typeface="Times New Roman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  <m:t>𝐴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cs typeface="Times New Roman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ru-RU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Calibri"/>
                                      <a:cs typeface="Times New Roman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ru-RU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Calibri"/>
                                      <a:cs typeface="Times New Roman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ru-RU" i="1"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  <m:t>𝑊</m:t>
                          </m:r>
                        </m:e>
                      </m:nary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ru-RU" b="1" i="1"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  <m:t>𝒙</m:t>
                          </m:r>
                          <m:r>
                            <a:rPr lang="ru-RU" b="1" i="1"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ru-RU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Calibri"/>
                                  <a:cs typeface="Times New Roman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ru-RU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Calibri"/>
                                  <a:cs typeface="Times New Roman"/>
                                </a:rPr>
                                <m:t>′</m:t>
                              </m:r>
                            </m:sup>
                          </m:sSup>
                          <m:r>
                            <a:rPr lang="ru-RU" b="1" i="1"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  <m:t>,</m:t>
                          </m:r>
                          <m:r>
                            <a:rPr lang="ru-RU" b="1" i="1"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  <m:t>𝒉</m:t>
                          </m:r>
                        </m:e>
                      </m:d>
                      <m:r>
                        <a:rPr lang="en-US" i="1"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𝑑</m:t>
                      </m:r>
                      <m:sSup>
                        <m:sSupPr>
                          <m:ctrlPr>
                            <a:rPr lang="ru-RU" i="1">
                              <a:effectLst/>
                              <a:latin typeface="Cambria Math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i="1"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  <m:t>𝜈</m:t>
                          </m:r>
                        </m:e>
                        <m:sup>
                          <m:r>
                            <a:rPr lang="ru-RU" i="1"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7" name="Прямоугольник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7629" y="2110213"/>
                <a:ext cx="3428503" cy="81887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0590" y="3839651"/>
            <a:ext cx="4166087" cy="100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Прямоугольник 27"/>
              <p:cNvSpPr/>
              <p:nvPr/>
            </p:nvSpPr>
            <p:spPr>
              <a:xfrm>
                <a:off x="14195868" y="4001475"/>
                <a:ext cx="10026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𝑊</m:t>
                      </m:r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r>
                        <a:rPr lang="en-US" b="1" i="1" smtClean="0">
                          <a:latin typeface="Cambria Math"/>
                        </a:rPr>
                        <m:t>𝒓</m:t>
                      </m:r>
                      <m:r>
                        <a:rPr lang="en-US" b="0" i="1" smtClean="0">
                          <a:latin typeface="Cambria Math"/>
                        </a:rPr>
                        <m:t>, </m:t>
                      </m:r>
                      <m:r>
                        <a:rPr lang="en-US" b="0" i="1" smtClean="0">
                          <a:latin typeface="Cambria Math"/>
                        </a:rPr>
                        <m:t>h</m:t>
                      </m:r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8" name="Прямоугольник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5868" y="4001475"/>
                <a:ext cx="1002647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1" name="Picture 3" descr="D:\Work\DIPLOMA\SPHlit\Рисунок3.pn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r="23737"/>
          <a:stretch/>
        </p:blipFill>
        <p:spPr bwMode="auto">
          <a:xfrm>
            <a:off x="11016000" y="5188760"/>
            <a:ext cx="2160000" cy="19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Прямоугольник 29"/>
              <p:cNvSpPr/>
              <p:nvPr/>
            </p:nvSpPr>
            <p:spPr>
              <a:xfrm>
                <a:off x="13572461" y="5556083"/>
                <a:ext cx="1246814" cy="12225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ru-RU" sz="2800" i="1"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ru-RU" sz="2800" i="1">
                              <a:latin typeface="Cambria Math"/>
                            </a:rPr>
                            <m:t>→</m:t>
                          </m:r>
                        </m:e>
                      </m:nary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ru-RU" sz="2800" i="1"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ru-RU" sz="2800" i="1">
                              <a:latin typeface="Cambria Math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0" name="Прямоугольник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2461" y="5556083"/>
                <a:ext cx="1246814" cy="1222514"/>
              </a:xfrm>
              <a:prstGeom prst="rect">
                <a:avLst/>
              </a:prstGeom>
              <a:blipFill rotWithShape="1">
                <a:blip r:embed="rId9"/>
                <a:stretch>
                  <a:fillRect r="-24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4" name="Picture 6" descr="D:\Work\DIPLOMA\SPHlit\Рисунок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8233" y="1732826"/>
            <a:ext cx="1854228" cy="1573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Прямоугольник 30"/>
          <p:cNvSpPr/>
          <p:nvPr/>
        </p:nvSpPr>
        <p:spPr>
          <a:xfrm>
            <a:off x="584200" y="4708095"/>
            <a:ext cx="49837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">
              <a:lnSpc>
                <a:spcPct val="100000"/>
              </a:lnSpc>
              <a:spcBef>
                <a:spcPts val="1335"/>
              </a:spcBef>
            </a:pPr>
            <a:r>
              <a:rPr lang="ru-RU" sz="3200" spc="-17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</a:t>
            </a:r>
            <a:r>
              <a:rPr lang="ru-RU" sz="3200" spc="-17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spc="-16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дискретному</a:t>
            </a:r>
            <a:r>
              <a:rPr lang="ru-RU" sz="3200" spc="6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spc="-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полю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584843" y="1934878"/>
            <a:ext cx="28151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55"/>
              </a:spcBef>
            </a:pPr>
            <a:r>
              <a:rPr lang="ru-RU" sz="32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Концепция</a:t>
            </a:r>
            <a:r>
              <a:rPr lang="ru-RU" sz="32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SPH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6426688" y="9190059"/>
            <a:ext cx="1048512" cy="563541"/>
          </a:xfrm>
        </p:spPr>
        <p:txBody>
          <a:bodyPr/>
          <a:lstStyle/>
          <a:p>
            <a:fld id="{B6F15528-21DE-4FAA-801E-634DDDAF4B2B}" type="slidenum">
              <a:rPr lang="ru-RU" smtClean="0">
                <a:solidFill>
                  <a:schemeClr val="tx1"/>
                </a:solidFill>
              </a:rPr>
              <a:t>4</a:t>
            </a:fld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2471" y="538193"/>
            <a:ext cx="13056869" cy="830997"/>
          </a:xfrm>
        </p:spPr>
        <p:txBody>
          <a:bodyPr>
            <a:normAutofit fontScale="90000"/>
          </a:bodyPr>
          <a:lstStyle/>
          <a:p>
            <a:r>
              <a:rPr lang="ru-RU" sz="5400" dirty="0">
                <a:latin typeface="Times New Roman"/>
                <a:cs typeface="Times New Roman"/>
              </a:rPr>
              <a:t>Сглаживающие ядра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idx="1"/>
          </p:nvPr>
        </p:nvSpPr>
        <p:spPr>
          <a:xfrm>
            <a:off x="683272" y="4953000"/>
            <a:ext cx="8136890" cy="4924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свойства ядра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W(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r,h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4105" y="2206197"/>
            <a:ext cx="8529294" cy="2485937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285"/>
              </a:spcBef>
              <a:tabLst>
                <a:tab pos="2715260" algn="l"/>
              </a:tabLst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W(r, h) (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сглаживающее ядро) регулирует степень сглаживания, которое усиливается с увеличением радиуса сглаживания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h.</a:t>
            </a:r>
          </a:p>
          <a:p>
            <a:pPr marL="19685">
              <a:lnSpc>
                <a:spcPct val="100000"/>
              </a:lnSpc>
              <a:spcBef>
                <a:spcPts val="1285"/>
              </a:spcBef>
              <a:tabLst>
                <a:tab pos="2715260" algn="l"/>
              </a:tabLst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ядра важен для стабильности, точности и скорости вычисления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894104" y="5715000"/>
                <a:ext cx="8529295" cy="44005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ru-RU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Нормировка: интеграл должен быть равен 1.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ru-RU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δ-функция Дирака: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sz="28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28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280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sz="28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ru-RU" sz="2800" i="1">
                                    <a:latin typeface="Cambria Math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ru-RU" sz="2800" i="1">
                                    <a:latin typeface="Cambria Math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ru-RU" sz="2800" i="1">
                                <a:latin typeface="Cambria Math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a:rPr lang="ru-RU" sz="2800" i="1">
                            <a:latin typeface="Cambria Math"/>
                          </a:rPr>
                          <m:t>𝑊</m:t>
                        </m:r>
                        <m:r>
                          <a:rPr lang="ru-RU" sz="2800" i="1">
                            <a:latin typeface="Cambria Math"/>
                          </a:rPr>
                          <m:t>(</m:t>
                        </m:r>
                        <m:r>
                          <a:rPr lang="ru-RU" sz="2800" b="1" i="1">
                            <a:latin typeface="Cambria Math"/>
                          </a:rPr>
                          <m:t>𝒓</m:t>
                        </m:r>
                        <m:r>
                          <a:rPr lang="ru-RU" sz="2800" b="1" i="1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ru-RU" sz="28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ru-RU" sz="2800" i="1">
                                <a:latin typeface="Cambria Math"/>
                              </a:rPr>
                              <m:t>h</m:t>
                            </m:r>
                          </m:e>
                          <m:sup>
                            <m:r>
                              <a:rPr lang="ru-RU" sz="2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ru-RU" sz="2800" i="1">
                            <a:latin typeface="Cambria Math"/>
                          </a:rPr>
                          <m:t>) </m:t>
                        </m:r>
                      </m:e>
                    </m:func>
                    <m:r>
                      <a:rPr lang="ru-RU" sz="2800" i="1">
                        <a:latin typeface="Cambria Math"/>
                      </a:rPr>
                      <m:t>  = </m:t>
                    </m:r>
                    <m:r>
                      <a:rPr lang="ru-RU" sz="2800">
                        <a:latin typeface="Cambria Math"/>
                      </a:rPr>
                      <m:t>ẟ</m:t>
                    </m:r>
                    <m:r>
                      <a:rPr lang="ru-RU" sz="2800" i="1">
                        <a:latin typeface="Cambria Math"/>
                      </a:rPr>
                      <m:t>(</m:t>
                    </m:r>
                    <m:r>
                      <a:rPr lang="ru-RU" sz="2800" b="1" i="1">
                        <a:latin typeface="Cambria Math"/>
                      </a:rPr>
                      <m:t>𝒓</m:t>
                    </m:r>
                    <m:r>
                      <a:rPr lang="ru-RU" sz="2800" i="1">
                        <a:latin typeface="Cambria Math"/>
                      </a:rPr>
                      <m:t>)</m:t>
                    </m:r>
                  </m:oMath>
                </a14:m>
                <a:endParaRPr lang="ru-RU" sz="2800" dirty="0"/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ru-RU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Симметрия: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𝑊</m:t>
                    </m:r>
                    <m:r>
                      <a:rPr lang="ru-RU" sz="2800" i="1">
                        <a:latin typeface="Cambria Math"/>
                      </a:rPr>
                      <m:t>(</m:t>
                    </m:r>
                    <m:r>
                      <a:rPr lang="ru-RU" sz="2800" b="1" i="1">
                        <a:latin typeface="Cambria Math"/>
                      </a:rPr>
                      <m:t>𝒓</m:t>
                    </m:r>
                    <m:r>
                      <a:rPr lang="ru-RU" sz="2800" b="1" i="1">
                        <a:latin typeface="Cambria Math"/>
                      </a:rPr>
                      <m:t>,</m:t>
                    </m:r>
                    <m:r>
                      <a:rPr lang="ru-RU" sz="2800" i="1">
                        <a:latin typeface="Cambria Math"/>
                      </a:rPr>
                      <m:t>h</m:t>
                    </m:r>
                    <m:r>
                      <a:rPr lang="ru-RU" sz="2800" i="1">
                        <a:latin typeface="Cambria Math"/>
                      </a:rPr>
                      <m:t>) = </m:t>
                    </m:r>
                    <m:r>
                      <a:rPr lang="ru-RU" sz="2800" i="1">
                        <a:latin typeface="Cambria Math"/>
                      </a:rPr>
                      <m:t>𝑊</m:t>
                    </m:r>
                    <m:r>
                      <a:rPr lang="ru-RU" sz="2800" i="1">
                        <a:latin typeface="Cambria Math"/>
                      </a:rPr>
                      <m:t>(−</m:t>
                    </m:r>
                    <m:r>
                      <a:rPr lang="ru-RU" sz="2800" b="1" i="1">
                        <a:latin typeface="Cambria Math"/>
                      </a:rPr>
                      <m:t>𝒓</m:t>
                    </m:r>
                    <m:r>
                      <a:rPr lang="ru-RU" sz="2800" b="1" i="1">
                        <a:latin typeface="Cambria Math"/>
                      </a:rPr>
                      <m:t>,</m:t>
                    </m:r>
                    <m:r>
                      <a:rPr lang="ru-RU" sz="2800" i="1">
                        <a:latin typeface="Cambria Math"/>
                      </a:rPr>
                      <m:t>h</m:t>
                    </m:r>
                    <m:r>
                      <a:rPr lang="ru-RU" sz="2800" i="1">
                        <a:latin typeface="Cambria Math"/>
                      </a:rPr>
                      <m:t>)</m:t>
                    </m:r>
                  </m:oMath>
                </a14:m>
                <a:r>
                  <a:rPr lang="ru-RU" sz="2800" dirty="0" smtClean="0"/>
                  <a:t>, что обеспечивает согласованность непрерывной аппроксимации первого порядка.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ru-RU" sz="2800" dirty="0" smtClean="0"/>
                  <a:t> Компактная поддержка: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𝑊</m:t>
                    </m:r>
                    <m:d>
                      <m:dPr>
                        <m:ctrlPr>
                          <a:rPr lang="ru-RU" sz="2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ru-RU" sz="2800" b="1" i="1">
                            <a:latin typeface="Cambria Math"/>
                          </a:rPr>
                          <m:t>𝒓</m:t>
                        </m:r>
                        <m:r>
                          <a:rPr lang="ru-RU" sz="2800" i="1">
                            <a:latin typeface="Cambria Math"/>
                          </a:rPr>
                          <m:t>,</m:t>
                        </m:r>
                        <m:r>
                          <a:rPr lang="ru-RU" sz="2800" i="1">
                            <a:latin typeface="Cambria Math"/>
                          </a:rPr>
                          <m:t>h</m:t>
                        </m:r>
                      </m:e>
                    </m:d>
                    <m:r>
                      <a:rPr lang="ru-RU" sz="2800" b="1" i="1">
                        <a:latin typeface="Cambria Math"/>
                      </a:rPr>
                      <m:t>= </m:t>
                    </m:r>
                    <m:r>
                      <a:rPr lang="ru-RU" sz="2800" i="1">
                        <a:latin typeface="Cambria Math"/>
                      </a:rPr>
                      <m:t>0,если </m:t>
                    </m:r>
                    <m:d>
                      <m:dPr>
                        <m:begChr m:val="‖"/>
                        <m:endChr m:val="‖"/>
                        <m:ctrlPr>
                          <a:rPr lang="ru-RU" sz="2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ru-RU" sz="2800" b="1" i="1">
                            <a:latin typeface="Cambria Math"/>
                          </a:rPr>
                          <m:t>𝒓</m:t>
                        </m:r>
                      </m:e>
                    </m:d>
                    <m:r>
                      <a:rPr lang="ru-RU" sz="2800" i="1">
                        <a:latin typeface="Cambria Math"/>
                      </a:rPr>
                      <m:t> ≥</m:t>
                    </m:r>
                    <m:r>
                      <a:rPr lang="ru-RU" sz="2800" i="1" smtClean="0">
                        <a:latin typeface="Cambria Math"/>
                      </a:rPr>
                      <m:t>ħ</m:t>
                    </m:r>
                  </m:oMath>
                </a14:m>
                <a:r>
                  <a:rPr lang="ru-RU" sz="2800" dirty="0" smtClean="0"/>
                  <a:t>. Сугубо практическое требование для оптимизации вычислений.</a:t>
                </a:r>
                <a:endParaRPr lang="ru-RU" sz="2800" dirty="0"/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ru-RU" dirty="0"/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104" y="5715000"/>
                <a:ext cx="8529295" cy="4400500"/>
              </a:xfrm>
              <a:prstGeom prst="rect">
                <a:avLst/>
              </a:prstGeom>
              <a:blipFill rotWithShape="1">
                <a:blip r:embed="rId2"/>
                <a:stretch>
                  <a:fillRect l="-1287" t="-13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736600" y="1621422"/>
            <a:ext cx="31476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685">
              <a:lnSpc>
                <a:spcPct val="100000"/>
              </a:lnSpc>
              <a:spcBef>
                <a:spcPts val="1285"/>
              </a:spcBef>
              <a:tabLst>
                <a:tab pos="2715260" algn="l"/>
              </a:tabLst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Назначение ядра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226040" y="7712050"/>
            <a:ext cx="1879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0" smtClean="0">
                <a:latin typeface="Consolas"/>
                <a:cs typeface="Consolas"/>
              </a:rPr>
              <a:t>0</a:t>
            </a:r>
            <a:endParaRPr sz="2500" dirty="0">
              <a:latin typeface="Consolas"/>
              <a:cs typeface="Consola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0600" y="4355485"/>
            <a:ext cx="6096000" cy="4703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Прямоугольник 11"/>
          <p:cNvSpPr/>
          <p:nvPr/>
        </p:nvSpPr>
        <p:spPr>
          <a:xfrm>
            <a:off x="14152121" y="4461301"/>
            <a:ext cx="2133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429895" algn="r">
              <a:lnSpc>
                <a:spcPct val="100000"/>
              </a:lnSpc>
              <a:spcBef>
                <a:spcPts val="615"/>
              </a:spcBef>
            </a:pPr>
            <a:r>
              <a:rPr lang="ru-RU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W(</a:t>
            </a:r>
            <a:r>
              <a:rPr lang="en-US" sz="24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r,h</a:t>
            </a: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0145934" y="5803750"/>
            <a:ext cx="3481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spc="-50" dirty="0" smtClean="0">
                <a:latin typeface="Consolas"/>
                <a:cs typeface="Consolas"/>
              </a:rPr>
              <a:t>0</a:t>
            </a:r>
            <a:endParaRPr lang="ru-RU" sz="2400" b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9880600" y="1621421"/>
            <a:ext cx="53383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– кубический сплайн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0035540" y="2333381"/>
            <a:ext cx="62501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Ядро кубического сплайна часто выбирают в качестве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глаживающего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ядра.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Его длина сглаживания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идентична радиусу поддержки </a:t>
            </a:r>
            <a:endParaRPr lang="ru-RU" sz="2800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16275561" y="8763000"/>
            <a:ext cx="1189478" cy="990600"/>
          </a:xfrm>
        </p:spPr>
        <p:txBody>
          <a:bodyPr/>
          <a:lstStyle/>
          <a:p>
            <a:fld id="{B6F15528-21DE-4FAA-801E-634DDDAF4B2B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83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8408" y="609600"/>
            <a:ext cx="13056869" cy="923330"/>
          </a:xfrm>
        </p:spPr>
        <p:txBody>
          <a:bodyPr>
            <a:normAutofit fontScale="90000"/>
          </a:bodyPr>
          <a:lstStyle/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Уравнение состояния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/>
              <p:cNvSpPr>
                <a:spLocks noGrp="1"/>
              </p:cNvSpPr>
              <p:nvPr>
                <p:ph idx="1"/>
              </p:nvPr>
            </p:nvSpPr>
            <p:spPr>
              <a:xfrm>
                <a:off x="508000" y="1752600"/>
                <a:ext cx="15621000" cy="221599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Рассмотрим жидкость, состоящую из набора малых движущихся элементов. </a:t>
                </a:r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Поскольку частицы движутся вместе с потоком жидкости, скорость изменения скорости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sz="3600" b="1" i="1"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ru-RU" sz="36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u-RU" sz="3600" i="1">
                        <a:latin typeface="Cambria Math"/>
                      </a:rPr>
                      <m:t> </m:t>
                    </m:r>
                  </m:oMath>
                </a14:m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 времени определяется формой Лагранжа уравнения Навье-Стокса:</a:t>
                </a:r>
              </a:p>
            </p:txBody>
          </p:sp>
        </mc:Choice>
        <mc:Fallback xmlns="">
          <p:sp>
            <p:nvSpPr>
              <p:cNvPr id="3" name="Текс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752600"/>
                <a:ext cx="15621000" cy="2215991"/>
              </a:xfrm>
              <a:blipFill rotWithShape="1">
                <a:blip r:embed="rId2"/>
                <a:stretch>
                  <a:fillRect t="-5510" b="-49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5039360" y="4191000"/>
                <a:ext cx="7041608" cy="15383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4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4000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sz="4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4000" b="1" i="1">
                                  <a:latin typeface="Cambria Math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40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40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ru-RU" sz="4000" i="1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ru-RU" sz="4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sz="40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sz="4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sz="4000" i="1">
                                  <a:latin typeface="Cambria Math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ru-RU" sz="4000">
                          <a:latin typeface="Cambria Math"/>
                        </a:rPr>
                        <m:t>𝛻</m:t>
                      </m:r>
                      <m:sSub>
                        <m:sSubPr>
                          <m:ctrlPr>
                            <a:rPr lang="ru-RU" sz="4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sz="4000" i="1">
                              <a:latin typeface="Cambria Math"/>
                            </a:rPr>
                            <m:t>𝜌</m:t>
                          </m:r>
                        </m:e>
                        <m:sub>
                          <m:r>
                            <a:rPr lang="ru-RU" sz="40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ru-RU" sz="4000" i="1">
                          <a:latin typeface="Cambria Math"/>
                        </a:rPr>
                        <m:t>+</m:t>
                      </m:r>
                      <m:r>
                        <a:rPr lang="ru-RU" sz="4000" i="1">
                          <a:latin typeface="Cambria Math"/>
                        </a:rPr>
                        <m:t>𝜇</m:t>
                      </m:r>
                      <m:sSup>
                        <m:sSupPr>
                          <m:ctrlPr>
                            <a:rPr lang="ru-RU" sz="40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ru-RU" sz="4000">
                              <a:latin typeface="Cambria Math"/>
                            </a:rPr>
                            <m:t>𝛻</m:t>
                          </m:r>
                        </m:e>
                        <m:sup>
                          <m:r>
                            <a:rPr lang="ru-RU" sz="4000" i="1">
                              <a:latin typeface="Cambria Math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ru-RU" sz="4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sz="40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ru-RU" sz="4000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ru-RU" sz="4000" i="1">
                              <a:latin typeface="Cambria Math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ru-RU" sz="4000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4000" i="1">
                                  <a:latin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ru-RU" sz="4000" i="1">
                                  <a:latin typeface="Cambria Math"/>
                                </a:rPr>
                                <m:t>стор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ru-RU" sz="4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40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sz="40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360" y="4191000"/>
                <a:ext cx="7041608" cy="153830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569686" y="6324600"/>
                <a:ext cx="15635514" cy="25408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Часть </a:t>
                </a:r>
                <a14:m>
                  <m:oMath xmlns:m="http://schemas.openxmlformats.org/officeDocument/2006/math">
                    <m:r>
                      <a:rPr lang="ru-RU" sz="3600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ru-RU" sz="3600" i="1">
                            <a:latin typeface="Cambria Math"/>
                          </a:rPr>
                        </m:ctrlPr>
                      </m:fPr>
                      <m:num>
                        <m:r>
                          <a:rPr lang="ru-RU" sz="3600" i="1">
                            <a:latin typeface="Cambria Math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ru-RU" sz="3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ru-RU" sz="3600" i="1">
                                <a:latin typeface="Cambria Math"/>
                              </a:rPr>
                              <m:t>𝜌</m:t>
                            </m:r>
                          </m:e>
                          <m:sub>
                            <m:r>
                              <a:rPr lang="ru-RU" sz="36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ru-RU" sz="3600">
                        <a:latin typeface="Cambria Math"/>
                      </a:rPr>
                      <m:t>𝛻</m:t>
                    </m:r>
                    <m:sSub>
                      <m:sSubPr>
                        <m:ctrlPr>
                          <a:rPr lang="ru-RU" sz="3600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sz="3600" i="1">
                            <a:latin typeface="Cambria Math"/>
                          </a:rPr>
                          <m:t>𝜌</m:t>
                        </m:r>
                      </m:e>
                      <m:sub>
                        <m:r>
                          <a:rPr lang="ru-RU" sz="36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dirty="0"/>
                  <a:t> </a:t>
                </a:r>
                <a:r>
                  <a:rPr lang="ru-RU" sz="3600" dirty="0" smtClean="0"/>
                  <a:t>- </a:t>
                </a:r>
                <a:r>
                  <a:rPr lang="ru-RU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ускорение частиц</a:t>
                </a:r>
                <a:r>
                  <a:rPr lang="ru-RU" sz="3600" dirty="0" smtClean="0"/>
                  <a:t>, </a:t>
                </a:r>
                <a:r>
                  <a:rPr lang="ru-RU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часть </a:t>
                </a:r>
                <a14:m>
                  <m:oMath xmlns:m="http://schemas.openxmlformats.org/officeDocument/2006/math">
                    <m:r>
                      <a:rPr lang="ru-RU" sz="3600" i="1">
                        <a:latin typeface="Cambria Math"/>
                      </a:rPr>
                      <m:t>𝜇</m:t>
                    </m:r>
                    <m:sSup>
                      <m:sSupPr>
                        <m:ctrlPr>
                          <a:rPr lang="ru-RU" sz="3600" i="1">
                            <a:latin typeface="Cambria Math"/>
                          </a:rPr>
                        </m:ctrlPr>
                      </m:sSupPr>
                      <m:e>
                        <m:r>
                          <a:rPr lang="ru-RU" sz="3600">
                            <a:latin typeface="Cambria Math"/>
                          </a:rPr>
                          <m:t>𝛻</m:t>
                        </m:r>
                      </m:e>
                      <m:sup>
                        <m:r>
                          <a:rPr lang="ru-RU" sz="3600" i="1">
                            <a:latin typeface="Cambria Math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ru-RU" sz="3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600" b="1" i="1"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sz="36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dirty="0"/>
                  <a:t> </a:t>
                </a:r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представляет собой ускорение, вызванное силами трения между</a:t>
                </a:r>
                <a:r>
                  <a:rPr lang="ru-RU" sz="3600" dirty="0"/>
                  <a:t> </a:t>
                </a:r>
                <a:r>
                  <a:rPr lang="ru-RU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частицами,</a:t>
                </a:r>
                <a:r>
                  <a:rPr lang="ru-RU" sz="36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3600" i="1">
                            <a:latin typeface="Cambria Math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ru-RU" sz="3600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3600" i="1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sz="3600" i="1"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ru-RU" sz="3600" i="1">
                                <a:latin typeface="Cambria Math"/>
                              </a:rPr>
                              <m:t>стор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ru-RU" sz="3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sz="36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3600" i="1">
                        <a:latin typeface="Cambria Math"/>
                      </a:rPr>
                      <m:t> </m:t>
                    </m:r>
                  </m:oMath>
                </a14:m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описывает ускорения вызванные внешними </a:t>
                </a:r>
                <a:r>
                  <a:rPr lang="ru-RU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силами.</a:t>
                </a:r>
                <a:endParaRPr lang="ru-RU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86" y="6324600"/>
                <a:ext cx="15635514" cy="2540888"/>
              </a:xfrm>
              <a:prstGeom prst="rect">
                <a:avLst/>
              </a:prstGeom>
              <a:blipFill rotWithShape="1">
                <a:blip r:embed="rId4"/>
                <a:stretch>
                  <a:fillRect l="-1170" r="-1559" b="-64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6205200" y="8865488"/>
            <a:ext cx="1270000" cy="888112"/>
          </a:xfrm>
        </p:spPr>
        <p:txBody>
          <a:bodyPr/>
          <a:lstStyle/>
          <a:p>
            <a:fld id="{B6F15528-21DE-4FAA-801E-634DDDAF4B2B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8070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8840" y="210741"/>
            <a:ext cx="16586200" cy="1846659"/>
          </a:xfrm>
        </p:spPr>
        <p:txBody>
          <a:bodyPr>
            <a:normAutofit/>
          </a:bodyPr>
          <a:lstStyle/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 жидкостей методом ГСЧ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idx="1"/>
          </p:nvPr>
        </p:nvSpPr>
        <p:spPr>
          <a:xfrm>
            <a:off x="660401" y="2819400"/>
            <a:ext cx="8534400" cy="3962400"/>
          </a:xfrm>
        </p:spPr>
        <p:txBody>
          <a:bodyPr>
            <a:normAutofit fontScale="92500" lnSpcReduction="10000"/>
          </a:bodyPr>
          <a:lstStyle/>
          <a:p>
            <a:pPr marL="571500" lvl="0" indent="-571500">
              <a:buFont typeface="Wingdings" panose="05000000000000000000" pitchFamily="2" charset="2"/>
              <a:buChar char="q"/>
            </a:pPr>
            <a:r>
              <a:rPr lang="ru-RU" sz="3600" dirty="0" smtClean="0"/>
              <a:t>Определение </a:t>
            </a:r>
            <a:r>
              <a:rPr lang="ru-RU" sz="3600" dirty="0"/>
              <a:t>«соседей» в радиусе </a:t>
            </a:r>
            <a:r>
              <a:rPr lang="en-US" sz="3600" dirty="0"/>
              <a:t>h</a:t>
            </a:r>
            <a:r>
              <a:rPr lang="ru-RU" sz="3600" dirty="0"/>
              <a:t>.</a:t>
            </a:r>
          </a:p>
          <a:p>
            <a:pPr marL="571500" lvl="0" indent="-571500">
              <a:buFont typeface="Wingdings" panose="05000000000000000000" pitchFamily="2" charset="2"/>
              <a:buChar char="q"/>
            </a:pPr>
            <a:r>
              <a:rPr lang="ru-RU" sz="3600" dirty="0"/>
              <a:t>Расчет плотности</a:t>
            </a:r>
          </a:p>
          <a:p>
            <a:pPr marL="571500" lvl="0" indent="-571500">
              <a:buFont typeface="Wingdings" panose="05000000000000000000" pitchFamily="2" charset="2"/>
              <a:buChar char="q"/>
            </a:pPr>
            <a:r>
              <a:rPr lang="ru-RU" sz="3600" dirty="0"/>
              <a:t>Расчет градиента давления и сил</a:t>
            </a:r>
          </a:p>
          <a:p>
            <a:pPr marL="571500" lvl="0" indent="-571500">
              <a:buFont typeface="Wingdings" panose="05000000000000000000" pitchFamily="2" charset="2"/>
              <a:buChar char="q"/>
            </a:pPr>
            <a:r>
              <a:rPr lang="ru-RU" sz="3600" dirty="0"/>
              <a:t>Расчет вязкости и силы вязкого трения</a:t>
            </a:r>
          </a:p>
          <a:p>
            <a:pPr marL="571500" lvl="0" indent="-571500">
              <a:buFont typeface="Wingdings" panose="05000000000000000000" pitchFamily="2" charset="2"/>
              <a:buChar char="q"/>
            </a:pPr>
            <a:r>
              <a:rPr lang="ru-RU" sz="3600" dirty="0"/>
              <a:t>Расчет внешних сил </a:t>
            </a:r>
          </a:p>
          <a:p>
            <a:pPr marL="571500" lvl="0" indent="-571500">
              <a:buFont typeface="Wingdings" panose="05000000000000000000" pitchFamily="2" charset="2"/>
              <a:buChar char="q"/>
            </a:pPr>
            <a:r>
              <a:rPr lang="ru-RU" sz="3600" dirty="0"/>
              <a:t>Интегрирование, расчет позиций и скоростей на следующем шаге.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4800" y="2057400"/>
            <a:ext cx="6554935" cy="6952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6205200" y="8839201"/>
            <a:ext cx="1270000" cy="914400"/>
          </a:xfrm>
        </p:spPr>
        <p:txBody>
          <a:bodyPr/>
          <a:lstStyle/>
          <a:p>
            <a:fld id="{B6F15528-21DE-4FAA-801E-634DDDAF4B2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329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43963" y="753180"/>
            <a:ext cx="14194437" cy="93871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0" spc="-55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Оценка</a:t>
            </a:r>
            <a:r>
              <a:rPr sz="6000" spc="-29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spc="-155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плотности</a:t>
            </a:r>
            <a:r>
              <a:rPr sz="6000" spc="-3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spc="220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6000" spc="-345" dirty="0">
                <a:solidFill>
                  <a:srgbClr val="2A2A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spc="-204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точность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idx="1"/>
          </p:nvPr>
        </p:nvSpPr>
        <p:spPr>
          <a:xfrm>
            <a:off x="878721" y="4038600"/>
            <a:ext cx="8136890" cy="575157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645"/>
              </a:spcBef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дефицита частиц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4121" y="1913113"/>
            <a:ext cx="12733020" cy="154208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плотности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">
              <a:lnSpc>
                <a:spcPct val="100000"/>
              </a:lnSpc>
              <a:spcBef>
                <a:spcPts val="590"/>
              </a:spcBef>
              <a:tabLst>
                <a:tab pos="7297420" algn="l"/>
              </a:tabLst>
            </a:pP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Плотность</a:t>
            </a:r>
            <a:r>
              <a:rPr sz="2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частицы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р,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быть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восстановлена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sz="2800" spc="-7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положения</a:t>
            </a:r>
            <a:r>
              <a:rPr sz="28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частицы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поля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массы: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5765800" y="3049313"/>
                <a:ext cx="4152099" cy="11927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/>
                            </a:rPr>
                            <m:t>𝝆</m:t>
                          </m:r>
                        </m:e>
                        <m:sub>
                          <m:r>
                            <a:rPr lang="en-US" sz="2800" b="1" i="1"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28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800" b="1" i="1">
                              <a:latin typeface="Cambria Math"/>
                            </a:rPr>
                            <m:t>𝒋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ru-RU" sz="28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latin typeface="Cambria Math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800" b="1" i="1">
                                  <a:latin typeface="Cambria Math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sz="2800" b="1" i="1">
                              <a:latin typeface="Cambria Math"/>
                            </a:rPr>
                            <m:t>𝑾</m:t>
                          </m:r>
                          <m:d>
                            <m:dPr>
                              <m:ctrlPr>
                                <a:rPr lang="ru-RU" sz="2800" b="1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8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sz="2800" b="1" i="1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b="1" i="1">
                                          <a:latin typeface="Cambria Math"/>
                                        </a:rPr>
                                        <m:t>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800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800" b="1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28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sz="2800" b="1" i="1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b="1" i="1">
                                          <a:latin typeface="Cambria Math"/>
                                        </a:rPr>
                                        <m:t>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800" b="1" i="1">
                                      <a:latin typeface="Cambria Math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sz="2800" b="1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800" b="1" i="1">
                                  <a:latin typeface="Cambria Math"/>
                                </a:rPr>
                                <m:t>𝒉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ru-RU" sz="2800" b="1" dirty="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800" y="3049313"/>
                <a:ext cx="4152099" cy="119276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Прямоугольник 13"/>
          <p:cNvSpPr/>
          <p:nvPr/>
        </p:nvSpPr>
        <p:spPr>
          <a:xfrm>
            <a:off x="927900" y="4597853"/>
            <a:ext cx="928652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604">
              <a:lnSpc>
                <a:spcPct val="100000"/>
              </a:lnSpc>
              <a:spcBef>
                <a:spcPts val="645"/>
              </a:spcBef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Рассчитанная плотность обычно не обладает необходимой точностью на поверхности жидкости из-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зв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дефицита частиц, поскольку на границе в воздухе нет соседей. Это приводит к тому, что частица на поверхности имеет неполный набор соседей, тогда как частица внутри жидкости имеет полный набор.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660493" y="7404750"/>
            <a:ext cx="4538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4604">
              <a:lnSpc>
                <a:spcPct val="100000"/>
              </a:lnSpc>
              <a:spcBef>
                <a:spcPts val="645"/>
              </a:spcBef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Точность дискретизации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927900" y="8003268"/>
            <a:ext cx="157345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Дискретизация ГСЧ обеспечивает точность, как минимум 0-го порядка, для получения реалистичных симуляций этого достаточно. Точность в значительной степени зависит от схемы выборки частиц.</a:t>
            </a:r>
          </a:p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Восстановление плотности путем численного интегрирования уравнения непрерывности менее надежно.</a:t>
            </a:r>
            <a:endParaRPr lang="ru-RU" sz="2800" dirty="0"/>
          </a:p>
        </p:txBody>
      </p:sp>
      <p:pic>
        <p:nvPicPr>
          <p:cNvPr id="4100" name="Picture 4" descr="D:\Work\DIPLOMA\SPHlit\Рисунок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4429" y="4038600"/>
            <a:ext cx="6748390" cy="322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6381667" y="9190059"/>
            <a:ext cx="1048512" cy="563541"/>
          </a:xfrm>
        </p:spPr>
        <p:txBody>
          <a:bodyPr/>
          <a:lstStyle/>
          <a:p>
            <a:fld id="{B6F15528-21DE-4FAA-801E-634DDDAF4B2B}" type="slidenum">
              <a:rPr lang="ru-RU" smtClean="0">
                <a:solidFill>
                  <a:schemeClr val="tx1"/>
                </a:solidFill>
              </a:rPr>
              <a:t>8</a:t>
            </a:fld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8496" y="609600"/>
            <a:ext cx="15001838" cy="923330"/>
          </a:xfrm>
        </p:spPr>
        <p:txBody>
          <a:bodyPr>
            <a:normAutofit fontScale="90000"/>
          </a:bodyPr>
          <a:lstStyle/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Давление, вязкость, сторонние силы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idx="1"/>
          </p:nvPr>
        </p:nvSpPr>
        <p:spPr>
          <a:xfrm>
            <a:off x="660400" y="2396859"/>
            <a:ext cx="8136890" cy="553998"/>
          </a:xfrm>
        </p:spPr>
        <p:txBody>
          <a:bodyPr>
            <a:noAutofit/>
          </a:bodyPr>
          <a:lstStyle/>
          <a:p>
            <a:pPr marL="194481" indent="0">
              <a:buNone/>
            </a:pP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 вычисления давления: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7653020" y="1981200"/>
                <a:ext cx="6164956" cy="13853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ru-RU" sz="32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ru-RU" sz="3200">
                          <a:latin typeface="Cambria Math"/>
                        </a:rPr>
                        <m:t> </m:t>
                      </m:r>
                      <m:r>
                        <a:rPr lang="ru-RU" sz="32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32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3200" i="1">
                              <a:latin typeface="Cambria Math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ru-RU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f>
                            <m:fPr>
                              <m:ctrlPr>
                                <a:rPr lang="ru-RU" sz="3200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32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ru-RU" sz="3200" i="1">
                                  <a:latin typeface="Cambria Math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acc>
                            <m:accPr>
                              <m:chr m:val="⃗"/>
                              <m:ctrlPr>
                                <a:rPr lang="ru-RU" sz="32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ru-RU" sz="3200">
                                  <a:latin typeface="Cambria Math"/>
                                </a:rPr>
                                <m:t>𝛻</m:t>
                              </m:r>
                            </m:e>
                          </m:acc>
                          <m:r>
                            <a:rPr lang="en-US" sz="3200" i="1">
                              <a:latin typeface="Cambria Math"/>
                            </a:rPr>
                            <m:t>𝑊</m:t>
                          </m:r>
                          <m:d>
                            <m:dPr>
                              <m:ctrlPr>
                                <a:rPr lang="ru-RU" sz="32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sz="3200" i="1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3200" i="1">
                                          <a:latin typeface="Cambria Math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32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32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sz="3200" i="1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3200" i="1">
                                          <a:latin typeface="Cambria Math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3200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ru-RU" sz="32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ru-RU" sz="3200" i="1">
                                  <a:latin typeface="Cambria Math"/>
                                </a:rPr>
                                <m:t>h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3020" y="1981200"/>
                <a:ext cx="6164956" cy="138531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7698740" y="3318489"/>
                <a:ext cx="6643678" cy="13501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32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3200" b="1" i="1">
                              <a:latin typeface="Cambria Math"/>
                            </a:rPr>
                            <m:t>𝒇</m:t>
                          </m:r>
                        </m:e>
                        <m:sub>
                          <m:r>
                            <a:rPr lang="en-US" sz="3200" b="1" i="1">
                              <a:latin typeface="Cambria Math"/>
                            </a:rPr>
                            <m:t>𝒊</m:t>
                          </m:r>
                        </m:sub>
                        <m:sup>
                          <m:r>
                            <a:rPr lang="en-US" sz="3200" i="1">
                              <a:latin typeface="Cambria Math"/>
                            </a:rPr>
                            <m:t>𝑣𝑖𝑠</m:t>
                          </m:r>
                        </m:sup>
                      </m:sSubSup>
                      <m:r>
                        <a:rPr lang="ru-RU" sz="32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32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3200" i="1">
                              <a:latin typeface="Cambria Math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ru-RU" sz="3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f>
                            <m:fPr>
                              <m:ctrlPr>
                                <a:rPr lang="ru-RU" sz="3200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1" i="1"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32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1" i="1"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ru-RU" sz="3200" i="1">
                                  <a:latin typeface="Cambria Math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ru-RU" sz="3200" i="1">
                                  <a:latin typeface="Cambria Math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ru-RU" sz="3200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ru-RU" sz="3200">
                                      <a:latin typeface="Cambria Math"/>
                                    </a:rPr>
                                    <m:t>𝛻</m:t>
                                  </m:r>
                                </m:e>
                              </m:acc>
                            </m:e>
                            <m:sup>
                              <m:r>
                                <a:rPr lang="ru-RU" sz="32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200" i="1">
                              <a:latin typeface="Cambria Math"/>
                            </a:rPr>
                            <m:t>𝑊</m:t>
                          </m:r>
                          <m:d>
                            <m:dPr>
                              <m:ctrlPr>
                                <a:rPr lang="ru-RU" sz="32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1" i="1">
                                      <a:latin typeface="Cambria Math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32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1" i="1">
                                      <a:latin typeface="Cambria Math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ru-RU" sz="32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ru-RU" sz="3200" i="1">
                                  <a:latin typeface="Cambria Math"/>
                                </a:rPr>
                                <m:t>h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8740" y="3318489"/>
                <a:ext cx="6643678" cy="135011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889000" y="3683162"/>
            <a:ext cx="64059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 вычисления вязкости: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89000" y="5638800"/>
            <a:ext cx="1387856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нашей модели мы учитываем такие силы, как сила тяжести и сила взаимодействия частиц. </a:t>
            </a:r>
          </a:p>
          <a:p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столкновении частиц со твердыми объектами мы инвертируем перпендикулярную компоненту скорости.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16205200" y="8839201"/>
            <a:ext cx="1270000" cy="837664"/>
          </a:xfrm>
        </p:spPr>
        <p:txBody>
          <a:bodyPr/>
          <a:lstStyle/>
          <a:p>
            <a:fld id="{B6F15528-21DE-4FAA-801E-634DDDAF4B2B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445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13056869" cy="923330"/>
          </a:xfrm>
        </p:spPr>
        <p:txBody>
          <a:bodyPr>
            <a:normAutofit fontScale="90000"/>
          </a:bodyPr>
          <a:lstStyle/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соседей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/>
              <p:cNvSpPr>
                <a:spLocks noGrp="1"/>
              </p:cNvSpPr>
              <p:nvPr>
                <p:ph idx="1"/>
              </p:nvPr>
            </p:nvSpPr>
            <p:spPr>
              <a:xfrm>
                <a:off x="660400" y="2506979"/>
                <a:ext cx="9296400" cy="609397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Поиск соседей - один </a:t>
                </a:r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 наиболее вычислительно сложных этапов ГСЧ, занимающий до 50–70% времени. Мы используем равномерную сетку с размером ячейки равным </a:t>
                </a:r>
                <a:r>
                  <a:rPr lang="ru-RU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радиусу поддержки </a:t>
                </a:r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ядра. Частицы собираются  в ячейки сетки; для каждой частицы проверяются только соседние ячейки (9 в 2D, включая ячейку, относительно которой идет проверка). Это снижает сложность с </a:t>
                </a:r>
                <a14:m>
                  <m:oMath xmlns:m="http://schemas.openxmlformats.org/officeDocument/2006/math">
                    <m:r>
                      <a:rPr lang="ru-RU" sz="3600" i="1">
                        <a:latin typeface="Cambria Math"/>
                      </a:rPr>
                      <m:t>𝑂</m:t>
                    </m:r>
                    <m:r>
                      <a:rPr lang="ru-RU" sz="3600" i="1">
                        <a:latin typeface="Cambria Math"/>
                      </a:rPr>
                      <m:t>(</m:t>
                    </m:r>
                    <m:r>
                      <a:rPr lang="ru-RU" sz="3600" i="1">
                        <a:latin typeface="Cambria Math"/>
                      </a:rPr>
                      <m:t>𝑁</m:t>
                    </m:r>
                    <m:r>
                      <a:rPr lang="ru-RU" sz="3600" i="1">
                        <a:latin typeface="Cambria Math"/>
                      </a:rPr>
                      <m:t>²)</m:t>
                    </m:r>
                  </m:oMath>
                </a14:m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до </a:t>
                </a:r>
                <a14:m>
                  <m:oMath xmlns:m="http://schemas.openxmlformats.org/officeDocument/2006/math">
                    <m:r>
                      <a:rPr lang="ru-RU" sz="3600" i="1">
                        <a:latin typeface="Cambria Math"/>
                      </a:rPr>
                      <m:t>𝑂</m:t>
                    </m:r>
                    <m:r>
                      <a:rPr lang="ru-RU" sz="3600" i="1">
                        <a:latin typeface="Cambria Math"/>
                      </a:rPr>
                      <m:t>(</m:t>
                    </m:r>
                    <m:r>
                      <a:rPr lang="ru-RU" sz="3600" i="1">
                        <a:latin typeface="Cambria Math"/>
                      </a:rPr>
                      <m:t>𝑁</m:t>
                    </m:r>
                    <m:r>
                      <a:rPr lang="ru-RU" sz="3600" i="1">
                        <a:latin typeface="Cambria Math"/>
                      </a:rPr>
                      <m:t> · </m:t>
                    </m:r>
                    <m:r>
                      <a:rPr lang="ru-RU" sz="3600" i="1">
                        <a:latin typeface="Cambria Math"/>
                      </a:rPr>
                      <m:t>𝑘</m:t>
                    </m:r>
                    <m:r>
                      <a:rPr lang="ru-RU" sz="3600" i="1">
                        <a:latin typeface="Cambria Math"/>
                      </a:rPr>
                      <m:t>)</m:t>
                    </m:r>
                  </m:oMath>
                </a14:m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3600" i="1">
                        <a:latin typeface="Cambria Math"/>
                      </a:rPr>
                      <m:t>𝑘</m:t>
                    </m:r>
                  </m:oMath>
                </a14:m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среднее число соседей</a:t>
                </a:r>
                <a:r>
                  <a:rPr lang="ru-RU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Текс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60400" y="2506979"/>
                <a:ext cx="9296400" cy="6093976"/>
              </a:xfrm>
              <a:blipFill rotWithShape="1">
                <a:blip r:embed="rId2"/>
                <a:stretch>
                  <a:fillRect l="-2951" t="-2300" r="-2492" b="-3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200" y="2514599"/>
            <a:ext cx="6072345" cy="4876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6181544" y="8839201"/>
            <a:ext cx="1293655" cy="914400"/>
          </a:xfrm>
        </p:spPr>
        <p:txBody>
          <a:bodyPr/>
          <a:lstStyle/>
          <a:p>
            <a:fld id="{B6F15528-21DE-4FAA-801E-634DDDAF4B2B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8012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4200" y="609600"/>
            <a:ext cx="13056869" cy="923330"/>
          </a:xfrm>
        </p:spPr>
        <p:txBody>
          <a:bodyPr>
            <a:normAutofit fontScale="90000"/>
          </a:bodyPr>
          <a:lstStyle/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idx="1"/>
          </p:nvPr>
        </p:nvSpPr>
        <p:spPr>
          <a:xfrm>
            <a:off x="482600" y="1981200"/>
            <a:ext cx="15798800" cy="6547946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Мы изучили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гидродинамики и методов моделирования жидкостных и газообразных сред и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провели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 по теме «Моделирования физических процессов методом гидродинамики сглаженных частиц».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Спроектировали компьютерную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динамики жидкости на основе ГСЧ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соседей реализован с использованием равномерной сетки,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параллелизованный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CPU с O(N) сложностью. </a:t>
            </a:r>
            <a:endParaRPr lang="ru-RU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Спроектированная модель обладает потенциалом к масштабированию без больших потерей производительности.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6205200" y="8763001"/>
            <a:ext cx="1270000" cy="990600"/>
          </a:xfrm>
        </p:spPr>
        <p:txBody>
          <a:bodyPr/>
          <a:lstStyle/>
          <a:p>
            <a:fld id="{B6F15528-21DE-4FAA-801E-634DDDAF4B2B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4076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60600" y="4191000"/>
            <a:ext cx="13056869" cy="110799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599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седство">
  <a:themeElements>
    <a:clrScheme name="Соседство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Стандартная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седство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181</TotalTime>
  <Words>1124</Words>
  <Application>Microsoft Office PowerPoint</Application>
  <PresentationFormat>Произвольный</PresentationFormat>
  <Paragraphs>96</Paragraphs>
  <Slides>12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Соседство</vt:lpstr>
      <vt:lpstr>Моделирование физических процессов методом гидродинамики сглаженных частиц (ГСЧ) </vt:lpstr>
      <vt:lpstr>Введение</vt:lpstr>
      <vt:lpstr>Обзор современных применений метода ГСЧ</vt:lpstr>
      <vt:lpstr>Основы ГСЧ: Дискретизация</vt:lpstr>
      <vt:lpstr>Сглаживающие ядра</vt:lpstr>
      <vt:lpstr>Уравнение состояния</vt:lpstr>
      <vt:lpstr>Моделирование жидкостей методом ГСЧ</vt:lpstr>
      <vt:lpstr>Оценка плотности и точность</vt:lpstr>
      <vt:lpstr>Давление, вязкость, сторонние силы</vt:lpstr>
      <vt:lpstr>Поиск соседей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Моделирование физических процессов методом гидродинамики сглаженных частиц (ГСЧ)</dc:title>
  <dc:creator>admin</dc:creator>
  <cp:lastModifiedBy>admin</cp:lastModifiedBy>
  <cp:revision>21</cp:revision>
  <dcterms:created xsi:type="dcterms:W3CDTF">2025-12-24T01:13:14Z</dcterms:created>
  <dcterms:modified xsi:type="dcterms:W3CDTF">2025-12-24T12:56:53Z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2025-12-24T00:00:00Z</vt:filetime>
  </property>
  <property fmtid="{D5CDD505-2E9C-101B-9397-08002B2CF9AE}" pid="3" name="LastSaved">
    <vt:filetime>2025-12-24T00:00:00Z</vt:filetime>
  </property>
</Properties>
</file>